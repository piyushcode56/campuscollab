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7" r:id="rId2"/>
    <p:sldId id="258" r:id="rId3"/>
    <p:sldId id="259" r:id="rId4"/>
    <p:sldId id="260" r:id="rId5"/>
    <p:sldId id="261" r:id="rId6"/>
    <p:sldId id="270" r:id="rId7"/>
    <p:sldId id="262" r:id="rId8"/>
    <p:sldId id="263" r:id="rId9"/>
    <p:sldId id="264" r:id="rId10"/>
    <p:sldId id="271" r:id="rId11"/>
    <p:sldId id="267" r:id="rId12"/>
    <p:sldId id="265" r:id="rId13"/>
    <p:sldId id="266" r:id="rId14"/>
    <p:sldId id="268" r:id="rId15"/>
    <p:sldId id="269"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000000"/>
          </p15:clr>
        </p15:guide>
        <p15:guide id="2" pos="384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varScale="1">
        <p:scale>
          <a:sx n="81" d="100"/>
          <a:sy n="81" d="100"/>
        </p:scale>
        <p:origin x="610"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CAA277-FFB0-4B0F-B06C-6B1A4B7D2591}"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IN"/>
        </a:p>
      </dgm:t>
    </dgm:pt>
    <dgm:pt modelId="{2D9D4AF8-156E-4957-A2F0-6734A43B4225}" type="pres">
      <dgm:prSet presAssocID="{78CAA277-FFB0-4B0F-B06C-6B1A4B7D2591}" presName="diagram" presStyleCnt="0">
        <dgm:presLayoutVars>
          <dgm:dir/>
          <dgm:resizeHandles val="exact"/>
        </dgm:presLayoutVars>
      </dgm:prSet>
      <dgm:spPr/>
    </dgm:pt>
  </dgm:ptLst>
  <dgm:cxnLst>
    <dgm:cxn modelId="{1D1A5257-5722-44A8-9F2B-AE991443845C}" type="presOf" srcId="{78CAA277-FFB0-4B0F-B06C-6B1A4B7D2591}" destId="{2D9D4AF8-156E-4957-A2F0-6734A43B4225}"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C84BFCC-D503-DA2B-30EB-2B9AE551E857}"/>
            </a:ext>
          </a:extLst>
        </p:cNvPr>
        <p:cNvGrpSpPr/>
        <p:nvPr/>
      </p:nvGrpSpPr>
      <p:grpSpPr>
        <a:xfrm>
          <a:off x="0" y="0"/>
          <a:ext cx="0" cy="0"/>
          <a:chOff x="0" y="0"/>
          <a:chExt cx="0" cy="0"/>
        </a:xfrm>
      </p:grpSpPr>
      <p:sp>
        <p:nvSpPr>
          <p:cNvPr id="116" name="Google Shape;116;p7:notes">
            <a:extLst>
              <a:ext uri="{FF2B5EF4-FFF2-40B4-BE49-F238E27FC236}">
                <a16:creationId xmlns:a16="http://schemas.microsoft.com/office/drawing/2014/main" id="{B883FF40-947A-D91F-7623-190D8EBE1D9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p7:notes">
            <a:extLst>
              <a:ext uri="{FF2B5EF4-FFF2-40B4-BE49-F238E27FC236}">
                <a16:creationId xmlns:a16="http://schemas.microsoft.com/office/drawing/2014/main" id="{6C578B68-9D6D-DE19-FDF3-D89713FE41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21780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 name="Google Shape;23;p4"/>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2389717" y="612775"/>
            <a:ext cx="7315200" cy="4114800"/>
          </a:xfrm>
          <a:prstGeom prst="rect">
            <a:avLst/>
          </a:prstGeom>
          <a:noFill/>
          <a:ln>
            <a:noFill/>
          </a:ln>
        </p:spPr>
      </p:sp>
      <p:sp>
        <p:nvSpPr>
          <p:cNvPr id="64" name="Google Shape;64;p1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833019" y="-1623219"/>
            <a:ext cx="4525963" cy="10972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285038" y="1828800"/>
            <a:ext cx="5851525" cy="2743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697039" y="-812799"/>
            <a:ext cx="5851525" cy="8026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alpha val="49019"/>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p:nvPr/>
        </p:nvSpPr>
        <p:spPr>
          <a:xfrm>
            <a:off x="2438400" y="4572000"/>
            <a:ext cx="7239000" cy="1754188"/>
          </a:xfrm>
          <a:prstGeom prst="rect">
            <a:avLst/>
          </a:prstGeom>
          <a:noFill/>
          <a:ln>
            <a:noFill/>
          </a:ln>
        </p:spPr>
        <p:txBody>
          <a:bodyPr spcFirstLastPara="1" wrap="square" lIns="91425" tIns="45700" rIns="91425" bIns="45700" anchor="t" anchorCtr="0">
            <a:noAutofit/>
          </a:bodyPr>
          <a:lstStyle/>
          <a:p>
            <a:pPr algn="ctr">
              <a:buSzPts val="1800"/>
            </a:pPr>
            <a:r>
              <a:rPr lang="en-US" sz="1800" b="1" dirty="0">
                <a:solidFill>
                  <a:schemeClr val="dk1"/>
                </a:solidFill>
                <a:latin typeface="Times New Roman"/>
                <a:ea typeface="Times New Roman"/>
                <a:cs typeface="Times New Roman"/>
                <a:sym typeface="Times New Roman"/>
              </a:rPr>
              <a:t>Department of Electronics  &amp; </a:t>
            </a:r>
            <a:r>
              <a:rPr lang="en-US" sz="1800" b="1" dirty="0" err="1">
                <a:solidFill>
                  <a:schemeClr val="dk1"/>
                </a:solidFill>
                <a:latin typeface="Times New Roman"/>
                <a:ea typeface="Times New Roman"/>
                <a:cs typeface="Times New Roman"/>
                <a:sym typeface="Times New Roman"/>
              </a:rPr>
              <a:t>Telecommunicatin</a:t>
            </a:r>
            <a:r>
              <a:rPr lang="en-US" sz="1800" b="1" dirty="0">
                <a:solidFill>
                  <a:schemeClr val="dk1"/>
                </a:solidFill>
                <a:latin typeface="Times New Roman"/>
                <a:ea typeface="Times New Roman"/>
                <a:cs typeface="Times New Roman"/>
                <a:sym typeface="Times New Roman"/>
              </a:rPr>
              <a:t> Engineering</a:t>
            </a:r>
            <a:endParaRPr sz="1800" b="1" dirty="0">
              <a:solidFill>
                <a:schemeClr val="dk1"/>
              </a:solidFill>
              <a:latin typeface="Times New Roman"/>
              <a:ea typeface="Times New Roman"/>
              <a:cs typeface="Times New Roman"/>
              <a:sym typeface="Times New Roman"/>
            </a:endParaRPr>
          </a:p>
          <a:p>
            <a:pPr algn="ctr">
              <a:buSzPts val="1800"/>
            </a:pPr>
            <a:r>
              <a:rPr lang="en-US" sz="1800" b="1" dirty="0">
                <a:solidFill>
                  <a:schemeClr val="dk1"/>
                </a:solidFill>
                <a:latin typeface="Times New Roman"/>
                <a:ea typeface="Times New Roman"/>
                <a:cs typeface="Times New Roman"/>
                <a:sym typeface="Times New Roman"/>
              </a:rPr>
              <a:t>Shree L R Tiwari College of Engineering</a:t>
            </a:r>
            <a:endParaRPr dirty="0"/>
          </a:p>
          <a:p>
            <a:pPr algn="ctr">
              <a:buSzPts val="1800"/>
            </a:pPr>
            <a:r>
              <a:rPr lang="en-US" sz="1800" b="1" dirty="0" err="1">
                <a:solidFill>
                  <a:schemeClr val="dk1"/>
                </a:solidFill>
                <a:latin typeface="Times New Roman"/>
                <a:ea typeface="Times New Roman"/>
                <a:cs typeface="Times New Roman"/>
                <a:sym typeface="Times New Roman"/>
              </a:rPr>
              <a:t>Kanakia</a:t>
            </a:r>
            <a:r>
              <a:rPr lang="en-US" sz="1800" b="1" dirty="0">
                <a:solidFill>
                  <a:schemeClr val="dk1"/>
                </a:solidFill>
                <a:latin typeface="Times New Roman"/>
                <a:ea typeface="Times New Roman"/>
                <a:cs typeface="Times New Roman"/>
                <a:sym typeface="Times New Roman"/>
              </a:rPr>
              <a:t> Park, Mira Road (E), Mumbai-401107</a:t>
            </a:r>
            <a:endParaRPr dirty="0"/>
          </a:p>
          <a:p>
            <a:pPr algn="ctr">
              <a:buSzPts val="1800"/>
            </a:pPr>
            <a:r>
              <a:rPr lang="en-US" sz="1800" b="1" dirty="0">
                <a:solidFill>
                  <a:schemeClr val="dk1"/>
                </a:solidFill>
                <a:latin typeface="Times New Roman"/>
                <a:ea typeface="Times New Roman"/>
                <a:cs typeface="Times New Roman"/>
                <a:sym typeface="Times New Roman"/>
              </a:rPr>
              <a:t>UNIVERSITY OF MUMBAI</a:t>
            </a:r>
            <a:endParaRPr dirty="0"/>
          </a:p>
          <a:p>
            <a:pPr algn="ctr">
              <a:buSzPts val="1800"/>
            </a:pPr>
            <a:r>
              <a:rPr lang="en-US" sz="1800" b="1" dirty="0">
                <a:solidFill>
                  <a:schemeClr val="dk1"/>
                </a:solidFill>
                <a:latin typeface="Times New Roman"/>
                <a:ea typeface="Times New Roman"/>
                <a:cs typeface="Times New Roman"/>
                <a:sym typeface="Times New Roman"/>
              </a:rPr>
              <a:t>2024-2025</a:t>
            </a:r>
            <a:endParaRPr sz="1800" b="1" dirty="0">
              <a:solidFill>
                <a:schemeClr val="dk1"/>
              </a:solidFill>
              <a:latin typeface="Times New Roman"/>
              <a:ea typeface="Times New Roman"/>
              <a:cs typeface="Times New Roman"/>
              <a:sym typeface="Times New Roman"/>
            </a:endParaRPr>
          </a:p>
          <a:p>
            <a:pPr>
              <a:buSzPts val="1800"/>
            </a:pPr>
            <a:r>
              <a:rPr lang="en-US" sz="1800" b="1" dirty="0">
                <a:solidFill>
                  <a:srgbClr val="C00000"/>
                </a:solidFill>
                <a:latin typeface="Times New Roman"/>
                <a:ea typeface="Times New Roman"/>
                <a:cs typeface="Times New Roman"/>
                <a:sym typeface="Times New Roman"/>
              </a:rPr>
              <a:t>                                        </a:t>
            </a:r>
            <a:endParaRPr dirty="0"/>
          </a:p>
        </p:txBody>
      </p:sp>
      <p:sp>
        <p:nvSpPr>
          <p:cNvPr id="90" name="Google Shape;90;p14"/>
          <p:cNvSpPr txBox="1"/>
          <p:nvPr/>
        </p:nvSpPr>
        <p:spPr>
          <a:xfrm>
            <a:off x="3676650" y="457200"/>
            <a:ext cx="5022850" cy="2308284"/>
          </a:xfrm>
          <a:prstGeom prst="rect">
            <a:avLst/>
          </a:prstGeom>
          <a:noFill/>
          <a:ln>
            <a:noFill/>
          </a:ln>
        </p:spPr>
        <p:txBody>
          <a:bodyPr spcFirstLastPara="1" wrap="square" lIns="91425" tIns="45700" rIns="91425" bIns="45700" anchor="t" anchorCtr="0">
            <a:spAutoFit/>
          </a:bodyPr>
          <a:lstStyle/>
          <a:p>
            <a:pPr algn="ctr">
              <a:buSzPts val="3600"/>
            </a:pPr>
            <a:r>
              <a:rPr lang="en-US" sz="3600" b="1" dirty="0">
                <a:solidFill>
                  <a:schemeClr val="dk1"/>
                </a:solidFill>
                <a:latin typeface="Times New Roman"/>
                <a:ea typeface="Times New Roman"/>
                <a:cs typeface="Times New Roman"/>
                <a:sym typeface="Times New Roman"/>
              </a:rPr>
              <a:t>Bachelor of Engineering</a:t>
            </a:r>
            <a:endParaRPr dirty="0"/>
          </a:p>
          <a:p>
            <a:pPr algn="ctr">
              <a:buSzPts val="1800"/>
            </a:pPr>
            <a:r>
              <a:rPr lang="en-US" sz="1800" dirty="0">
                <a:solidFill>
                  <a:srgbClr val="C00000"/>
                </a:solidFill>
                <a:latin typeface="Times New Roman"/>
                <a:ea typeface="Times New Roman"/>
                <a:cs typeface="Times New Roman"/>
                <a:sym typeface="Times New Roman"/>
              </a:rPr>
              <a:t> </a:t>
            </a:r>
            <a:endParaRPr dirty="0"/>
          </a:p>
          <a:p>
            <a:pPr algn="ctr">
              <a:buSzPts val="2400"/>
            </a:pPr>
            <a:r>
              <a:rPr lang="en-US" sz="2400" b="1" dirty="0">
                <a:solidFill>
                  <a:schemeClr val="dk1"/>
                </a:solidFill>
                <a:latin typeface="Times New Roman"/>
                <a:ea typeface="Times New Roman"/>
                <a:cs typeface="Times New Roman"/>
                <a:sym typeface="Times New Roman"/>
              </a:rPr>
              <a:t>Project presentation</a:t>
            </a:r>
            <a:endParaRPr dirty="0"/>
          </a:p>
          <a:p>
            <a:pPr algn="ctr">
              <a:buSzPts val="2400"/>
            </a:pPr>
            <a:endParaRPr sz="2400" b="1" dirty="0">
              <a:solidFill>
                <a:schemeClr val="dk1"/>
              </a:solidFill>
              <a:latin typeface="Calibri"/>
              <a:ea typeface="Calibri"/>
              <a:cs typeface="Calibri"/>
              <a:sym typeface="Calibri"/>
            </a:endParaRPr>
          </a:p>
          <a:p>
            <a:pPr algn="ctr">
              <a:buSzPts val="2400"/>
            </a:pPr>
            <a:r>
              <a:rPr lang="en-US" sz="2400" b="1" dirty="0">
                <a:solidFill>
                  <a:schemeClr val="dk1"/>
                </a:solidFill>
                <a:latin typeface="Calibri"/>
                <a:ea typeface="Calibri"/>
                <a:cs typeface="Calibri"/>
                <a:sym typeface="Calibri"/>
              </a:rPr>
              <a:t> </a:t>
            </a:r>
            <a:endParaRPr dirty="0"/>
          </a:p>
          <a:p>
            <a:pPr algn="ctr">
              <a:buSzPts val="1800"/>
            </a:pPr>
            <a:r>
              <a:rPr lang="en-US" sz="1800" b="1" dirty="0">
                <a:solidFill>
                  <a:schemeClr val="dk1"/>
                </a:solidFill>
                <a:latin typeface="Calibri"/>
                <a:ea typeface="Calibri"/>
                <a:cs typeface="Calibri"/>
                <a:sym typeface="Calibri"/>
              </a:rPr>
              <a:t> </a:t>
            </a:r>
            <a:endParaRPr dirty="0"/>
          </a:p>
        </p:txBody>
      </p:sp>
      <p:pic>
        <p:nvPicPr>
          <p:cNvPr id="91" name="Google Shape;91;p14"/>
          <p:cNvPicPr preferRelativeResize="0"/>
          <p:nvPr/>
        </p:nvPicPr>
        <p:blipFill rotWithShape="1">
          <a:blip r:embed="rId3">
            <a:alphaModFix/>
          </a:blip>
          <a:srcRect/>
          <a:stretch/>
        </p:blipFill>
        <p:spPr>
          <a:xfrm>
            <a:off x="5367338" y="2514600"/>
            <a:ext cx="1498600" cy="15763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p:nvPr/>
        </p:nvSpPr>
        <p:spPr>
          <a:xfrm>
            <a:off x="2133600" y="685801"/>
            <a:ext cx="8001000" cy="8309927"/>
          </a:xfrm>
          <a:prstGeom prst="rect">
            <a:avLst/>
          </a:prstGeom>
          <a:noFill/>
          <a:ln>
            <a:noFill/>
          </a:ln>
        </p:spPr>
        <p:txBody>
          <a:bodyPr spcFirstLastPara="1" wrap="square" lIns="91425" tIns="45700" rIns="91425" bIns="45700" anchor="t" anchorCtr="0">
            <a:spAutoFit/>
          </a:bodyPr>
          <a:lstStyle/>
          <a:p>
            <a:pPr algn="ctr">
              <a:buSzPts val="2000"/>
            </a:pPr>
            <a:r>
              <a:rPr lang="en-US" sz="2000" b="1" dirty="0">
                <a:solidFill>
                  <a:schemeClr val="dk1"/>
                </a:solidFill>
                <a:latin typeface="Times New Roman"/>
                <a:ea typeface="Times New Roman"/>
                <a:cs typeface="Times New Roman"/>
                <a:sym typeface="Times New Roman"/>
              </a:rPr>
              <a:t>A  PRESENTATION  ON </a:t>
            </a:r>
            <a:endParaRPr lang="en-US" dirty="0"/>
          </a:p>
          <a:p>
            <a:pPr algn="ctr">
              <a:buSzPts val="1800"/>
            </a:pPr>
            <a:endParaRPr dirty="0"/>
          </a:p>
          <a:p>
            <a:pPr algn="ctr">
              <a:buSzPts val="1800"/>
            </a:pPr>
            <a:endParaRPr sz="1800" dirty="0">
              <a:solidFill>
                <a:srgbClr val="C00000"/>
              </a:solidFill>
              <a:latin typeface="Times New Roman"/>
              <a:ea typeface="Times New Roman"/>
              <a:cs typeface="Times New Roman"/>
              <a:sym typeface="Times New Roman"/>
            </a:endParaRPr>
          </a:p>
          <a:p>
            <a:pPr algn="ctr"/>
            <a:r>
              <a:rPr lang="en-IN" sz="3200" b="1" spc="-10" dirty="0">
                <a:latin typeface="Times New Roman"/>
              </a:rPr>
              <a:t>“TOUCH SCREEN BASED AUTOMATION SYSTEM”</a:t>
            </a:r>
          </a:p>
          <a:p>
            <a:pPr algn="ctr">
              <a:buSzPts val="1800"/>
            </a:pPr>
            <a:endParaRPr dirty="0"/>
          </a:p>
          <a:p>
            <a:pPr algn="ctr">
              <a:buSzPts val="1800"/>
            </a:pPr>
            <a:endParaRPr sz="1800" dirty="0">
              <a:solidFill>
                <a:schemeClr val="dk1"/>
              </a:solidFill>
              <a:latin typeface="Times New Roman"/>
              <a:ea typeface="Times New Roman"/>
              <a:cs typeface="Times New Roman"/>
              <a:sym typeface="Times New Roman"/>
            </a:endParaRPr>
          </a:p>
          <a:p>
            <a:pPr algn="ctr">
              <a:buSzPts val="1800"/>
            </a:pPr>
            <a:r>
              <a:rPr lang="en-US" sz="1800" b="1"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By</a:t>
            </a:r>
            <a:endParaRPr dirty="0"/>
          </a:p>
          <a:p>
            <a:pPr algn="ctr">
              <a:buSzPts val="1800"/>
            </a:pPr>
            <a:endParaRPr sz="1800" dirty="0">
              <a:solidFill>
                <a:schemeClr val="dk1"/>
              </a:solidFill>
              <a:latin typeface="Calibri"/>
              <a:ea typeface="Calibri"/>
              <a:cs typeface="Calibri"/>
              <a:sym typeface="Calibri"/>
            </a:endParaRPr>
          </a:p>
          <a:p>
            <a:pPr algn="ctr"/>
            <a:r>
              <a:rPr lang="en-US" sz="2000" b="1" dirty="0">
                <a:solidFill>
                  <a:schemeClr val="dk1"/>
                </a:solidFill>
                <a:latin typeface="Times New Roman"/>
                <a:ea typeface="Times New Roman"/>
                <a:cs typeface="Times New Roman"/>
                <a:sym typeface="Times New Roman"/>
              </a:rPr>
              <a:t> </a:t>
            </a:r>
            <a:r>
              <a:rPr lang="en-IN" sz="2000" b="1" dirty="0">
                <a:latin typeface="Times New Roman"/>
              </a:rPr>
              <a:t>AYUSH PIMPARKAR </a:t>
            </a:r>
          </a:p>
          <a:p>
            <a:pPr algn="ctr"/>
            <a:r>
              <a:rPr lang="en-IN" sz="2000" b="1" dirty="0">
                <a:latin typeface="Times New Roman"/>
              </a:rPr>
              <a:t>NOVMAN SHAIKH</a:t>
            </a:r>
          </a:p>
          <a:p>
            <a:pPr algn="ctr"/>
            <a:r>
              <a:rPr lang="en-IN" sz="2000" b="1" dirty="0">
                <a:latin typeface="Times New Roman"/>
              </a:rPr>
              <a:t>SAURABH YADAV</a:t>
            </a:r>
          </a:p>
          <a:p>
            <a:pPr algn="ctr"/>
            <a:r>
              <a:rPr lang="en-IN" sz="2000" b="1" dirty="0">
                <a:latin typeface="Times New Roman"/>
              </a:rPr>
              <a:t>AKHLAD AL-QURAYSH</a:t>
            </a:r>
          </a:p>
          <a:p>
            <a:pPr algn="ctr">
              <a:buSzPts val="1800"/>
            </a:pPr>
            <a:endParaRPr sz="1800" b="1" dirty="0">
              <a:solidFill>
                <a:srgbClr val="C00000"/>
              </a:solidFill>
              <a:latin typeface="Times New Roman"/>
              <a:ea typeface="Times New Roman"/>
              <a:cs typeface="Times New Roman"/>
              <a:sym typeface="Times New Roman"/>
            </a:endParaRPr>
          </a:p>
          <a:p>
            <a:pPr algn="ctr">
              <a:buSzPts val="1800"/>
            </a:pPr>
            <a:endParaRPr sz="1800" dirty="0">
              <a:solidFill>
                <a:srgbClr val="FF0000"/>
              </a:solidFill>
              <a:latin typeface="Calibri"/>
              <a:ea typeface="Calibri"/>
              <a:cs typeface="Calibri"/>
              <a:sym typeface="Calibri"/>
            </a:endParaRPr>
          </a:p>
          <a:p>
            <a:pPr algn="ctr">
              <a:buSzPts val="1800"/>
            </a:pPr>
            <a:r>
              <a:rPr lang="en-US" sz="1800" dirty="0">
                <a:solidFill>
                  <a:schemeClr val="dk1"/>
                </a:solidFill>
                <a:latin typeface="Times New Roman"/>
                <a:ea typeface="Times New Roman"/>
                <a:cs typeface="Times New Roman"/>
                <a:sym typeface="Times New Roman"/>
              </a:rPr>
              <a:t>  Under the guidance of </a:t>
            </a:r>
            <a:endParaRPr dirty="0"/>
          </a:p>
          <a:p>
            <a:pPr algn="ctr">
              <a:buSzPts val="1800"/>
            </a:pPr>
            <a:endParaRPr sz="1800" dirty="0">
              <a:solidFill>
                <a:schemeClr val="dk1"/>
              </a:solidFill>
              <a:latin typeface="Times New Roman"/>
              <a:ea typeface="Times New Roman"/>
              <a:cs typeface="Times New Roman"/>
              <a:sym typeface="Times New Roman"/>
            </a:endParaRPr>
          </a:p>
          <a:p>
            <a:pPr algn="ctr">
              <a:buSzPts val="2000"/>
            </a:pPr>
            <a:r>
              <a:rPr lang="en-US" sz="2000" b="1" dirty="0">
                <a:solidFill>
                  <a:schemeClr val="dk1"/>
                </a:solidFill>
                <a:latin typeface="Times New Roman"/>
                <a:ea typeface="Times New Roman"/>
                <a:cs typeface="Times New Roman"/>
                <a:sym typeface="Times New Roman"/>
              </a:rPr>
              <a:t> </a:t>
            </a:r>
            <a:r>
              <a:rPr lang="en-IN" sz="2000" b="1" dirty="0">
                <a:latin typeface="Times New Roman"/>
              </a:rPr>
              <a:t>Mrs. SHRUTI PATIL</a:t>
            </a:r>
          </a:p>
          <a:p>
            <a:pPr algn="ctr">
              <a:buSzPts val="2000"/>
            </a:pPr>
            <a:endParaRPr dirty="0"/>
          </a:p>
          <a:p>
            <a:pPr algn="ctr">
              <a:buSzPts val="2000"/>
            </a:pPr>
            <a:endParaRPr sz="1800" b="1" dirty="0">
              <a:solidFill>
                <a:srgbClr val="C00000"/>
              </a:solidFill>
              <a:latin typeface="Times New Roman"/>
              <a:ea typeface="Times New Roman"/>
              <a:cs typeface="Times New Roman"/>
              <a:sym typeface="Times New Roman"/>
            </a:endParaRPr>
          </a:p>
          <a:p>
            <a:pPr algn="ctr">
              <a:buSzPts val="1800"/>
            </a:pPr>
            <a:endParaRPr sz="1800" b="1" dirty="0">
              <a:solidFill>
                <a:schemeClr val="dk1"/>
              </a:solidFill>
              <a:latin typeface="Times New Roman"/>
              <a:ea typeface="Times New Roman"/>
              <a:cs typeface="Times New Roman"/>
              <a:sym typeface="Times New Roman"/>
            </a:endParaRPr>
          </a:p>
          <a:p>
            <a:pPr algn="ctr">
              <a:buSzPts val="1800"/>
            </a:pPr>
            <a:endParaRPr sz="1800" b="1" dirty="0">
              <a:solidFill>
                <a:schemeClr val="dk1"/>
              </a:solidFill>
              <a:latin typeface="Times New Roman"/>
              <a:ea typeface="Times New Roman"/>
              <a:cs typeface="Times New Roman"/>
              <a:sym typeface="Times New Roman"/>
            </a:endParaRPr>
          </a:p>
          <a:p>
            <a:pPr>
              <a:buSzPts val="1800"/>
            </a:pPr>
            <a:endParaRPr sz="1800" dirty="0">
              <a:solidFill>
                <a:schemeClr val="dk1"/>
              </a:solidFill>
              <a:latin typeface="Calibri"/>
              <a:ea typeface="Calibri"/>
              <a:cs typeface="Calibri"/>
              <a:sym typeface="Calibri"/>
            </a:endParaRPr>
          </a:p>
          <a:p>
            <a:pPr algn="ctr">
              <a:buSzPts val="1800"/>
            </a:pPr>
            <a:r>
              <a:rPr lang="en-US" sz="1800" dirty="0">
                <a:solidFill>
                  <a:schemeClr val="dk1"/>
                </a:solidFill>
                <a:latin typeface="Calibri"/>
                <a:ea typeface="Calibri"/>
                <a:cs typeface="Calibri"/>
                <a:sym typeface="Calibri"/>
              </a:rPr>
              <a:t>			</a:t>
            </a:r>
            <a:endParaRPr dirty="0"/>
          </a:p>
          <a:p>
            <a:pPr algn="ctr">
              <a:buSzPts val="1800"/>
            </a:pPr>
            <a:endParaRPr sz="1800" dirty="0">
              <a:solidFill>
                <a:schemeClr val="dk1"/>
              </a:solidFill>
              <a:latin typeface="Calibri"/>
              <a:ea typeface="Calibri"/>
              <a:cs typeface="Calibri"/>
              <a:sym typeface="Calibri"/>
            </a:endParaRPr>
          </a:p>
          <a:p>
            <a:pPr algn="ctr">
              <a:buSzPts val="1800"/>
            </a:pPr>
            <a:endParaRPr sz="1800" dirty="0">
              <a:solidFill>
                <a:schemeClr val="dk1"/>
              </a:solidFill>
              <a:latin typeface="Calibri"/>
              <a:ea typeface="Calibri"/>
              <a:cs typeface="Calibri"/>
              <a:sym typeface="Calibri"/>
            </a:endParaRPr>
          </a:p>
          <a:p>
            <a:pPr algn="ctr">
              <a:buSzPts val="1800"/>
            </a:pPr>
            <a:endParaRPr sz="1800" dirty="0">
              <a:solidFill>
                <a:schemeClr val="dk1"/>
              </a:solidFill>
              <a:latin typeface="Calibri"/>
              <a:ea typeface="Calibri"/>
              <a:cs typeface="Calibri"/>
              <a:sym typeface="Calibri"/>
            </a:endParaRPr>
          </a:p>
          <a:p>
            <a:pPr algn="ctr">
              <a:buSzPts val="1800"/>
            </a:pPr>
            <a:r>
              <a:rPr lang="en-US" sz="1800" dirty="0">
                <a:solidFill>
                  <a:schemeClr val="dk1"/>
                </a:solidFill>
                <a:latin typeface="Calibri"/>
                <a:ea typeface="Calibri"/>
                <a:cs typeface="Calibri"/>
                <a:sym typeface="Calibri"/>
              </a:rPr>
              <a:t>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1981200" y="99060"/>
            <a:ext cx="8229600" cy="1143000"/>
          </a:xfrm>
          <a:prstGeom prst="rect">
            <a:avLst/>
          </a:prstGeom>
          <a:noFill/>
          <a:ln>
            <a:noFill/>
          </a:ln>
        </p:spPr>
        <p:txBody>
          <a:bodyPr spcFirstLastPara="1" wrap="square" lIns="91425" tIns="45700" rIns="91425" bIns="45700" anchor="ctr" anchorCtr="0">
            <a:noAutofit/>
          </a:bodyPr>
          <a:lstStyle/>
          <a:p>
            <a:r>
              <a:rPr lang="en-US" dirty="0">
                <a:latin typeface="Times New Roman"/>
                <a:ea typeface="Times New Roman"/>
                <a:cs typeface="Times New Roman"/>
                <a:sym typeface="Times New Roman"/>
              </a:rPr>
              <a:t>Contents </a:t>
            </a:r>
            <a:endParaRPr dirty="0">
              <a:latin typeface="Times New Roman"/>
              <a:ea typeface="Times New Roman"/>
              <a:cs typeface="Times New Roman"/>
              <a:sym typeface="Times New Roman"/>
            </a:endParaRPr>
          </a:p>
        </p:txBody>
      </p:sp>
      <p:sp>
        <p:nvSpPr>
          <p:cNvPr id="102" name="Google Shape;102;p16"/>
          <p:cNvSpPr txBox="1">
            <a:spLocks noGrp="1"/>
          </p:cNvSpPr>
          <p:nvPr>
            <p:ph type="body" idx="1"/>
          </p:nvPr>
        </p:nvSpPr>
        <p:spPr>
          <a:xfrm>
            <a:off x="1981200" y="1143318"/>
            <a:ext cx="8229600" cy="5615622"/>
          </a:xfrm>
          <a:prstGeom prst="rect">
            <a:avLst/>
          </a:prstGeom>
          <a:noFill/>
          <a:ln>
            <a:noFill/>
          </a:ln>
        </p:spPr>
        <p:txBody>
          <a:bodyPr spcFirstLastPara="1" wrap="square" lIns="91425" tIns="45700" rIns="91425" bIns="45700" anchor="t" anchorCtr="0">
            <a:noAutofit/>
          </a:bodyPr>
          <a:lstStyle/>
          <a:p>
            <a:pPr indent="-457200">
              <a:spcBef>
                <a:spcPts val="0"/>
              </a:spcBef>
              <a:buSzPts val="3200"/>
              <a:buFont typeface="Wingdings" panose="05000000000000000000" pitchFamily="2" charset="2"/>
              <a:buChar char="Ø"/>
            </a:pPr>
            <a:r>
              <a:rPr lang="en-US" sz="2800" dirty="0">
                <a:latin typeface="Times New Roman" panose="02020603050405020304" pitchFamily="18" charset="0"/>
                <a:ea typeface="Times New Roman"/>
                <a:cs typeface="Times New Roman" panose="02020603050405020304" pitchFamily="18" charset="0"/>
                <a:sym typeface="Times New Roman"/>
              </a:rPr>
              <a:t>Problem Statement</a:t>
            </a:r>
            <a:endParaRPr sz="2800" dirty="0">
              <a:latin typeface="Times New Roman" panose="02020603050405020304" pitchFamily="18" charset="0"/>
              <a:cs typeface="Times New Roman" panose="02020603050405020304" pitchFamily="18" charset="0"/>
            </a:endParaRP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ea typeface="Times New Roman"/>
                <a:cs typeface="Times New Roman" panose="02020603050405020304" pitchFamily="18" charset="0"/>
                <a:sym typeface="Times New Roman"/>
              </a:rPr>
              <a:t>Abstract </a:t>
            </a: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sym typeface="Times New Roman"/>
              </a:rPr>
              <a:t>Literature Survey</a:t>
            </a:r>
            <a:endParaRPr sz="2800" dirty="0">
              <a:latin typeface="Times New Roman" panose="02020603050405020304" pitchFamily="18" charset="0"/>
              <a:cs typeface="Times New Roman" panose="02020603050405020304" pitchFamily="18" charset="0"/>
            </a:endParaRP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ea typeface="Times New Roman"/>
                <a:cs typeface="Times New Roman" panose="02020603050405020304" pitchFamily="18" charset="0"/>
                <a:sym typeface="Times New Roman"/>
              </a:rPr>
              <a:t>Introduction</a:t>
            </a:r>
            <a:endParaRPr sz="2800" dirty="0">
              <a:latin typeface="Times New Roman" panose="02020603050405020304" pitchFamily="18" charset="0"/>
              <a:cs typeface="Times New Roman" panose="02020603050405020304" pitchFamily="18" charset="0"/>
            </a:endParaRP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ea typeface="Times New Roman"/>
                <a:cs typeface="Times New Roman" panose="02020603050405020304" pitchFamily="18" charset="0"/>
                <a:sym typeface="Times New Roman"/>
              </a:rPr>
              <a:t>Block diagram</a:t>
            </a: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ea typeface="Times New Roman"/>
                <a:cs typeface="Times New Roman" panose="02020603050405020304" pitchFamily="18" charset="0"/>
                <a:sym typeface="Times New Roman"/>
              </a:rPr>
              <a:t>Circuit Diagram</a:t>
            </a: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ea typeface="Times New Roman"/>
                <a:cs typeface="Times New Roman" panose="02020603050405020304" pitchFamily="18" charset="0"/>
                <a:sym typeface="Times New Roman"/>
              </a:rPr>
              <a:t>Working</a:t>
            </a: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ea typeface="Times New Roman"/>
                <a:cs typeface="Times New Roman" panose="02020603050405020304" pitchFamily="18" charset="0"/>
                <a:sym typeface="Times New Roman"/>
              </a:rPr>
              <a:t>Hardware &amp; Software components</a:t>
            </a:r>
            <a:endParaRPr lang="en-US" sz="2800" dirty="0">
              <a:latin typeface="Times New Roman" panose="02020603050405020304" pitchFamily="18" charset="0"/>
              <a:cs typeface="Times New Roman" panose="02020603050405020304" pitchFamily="18" charset="0"/>
            </a:endParaRP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sym typeface="Times New Roman"/>
              </a:rPr>
              <a:t>Expected Result</a:t>
            </a:r>
            <a:endParaRPr lang="en-US" sz="2800" dirty="0">
              <a:latin typeface="Times New Roman" panose="02020603050405020304" pitchFamily="18" charset="0"/>
              <a:cs typeface="Times New Roman" panose="02020603050405020304" pitchFamily="18" charset="0"/>
            </a:endParaRP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ea typeface="Times New Roman"/>
                <a:cs typeface="Times New Roman" panose="02020603050405020304" pitchFamily="18" charset="0"/>
                <a:sym typeface="Times New Roman"/>
              </a:rPr>
              <a:t>Future Scope</a:t>
            </a:r>
            <a:endParaRPr lang="en-US" sz="2800" dirty="0">
              <a:latin typeface="Times New Roman" panose="02020603050405020304" pitchFamily="18" charset="0"/>
              <a:cs typeface="Times New Roman" panose="02020603050405020304" pitchFamily="18" charset="0"/>
            </a:endParaRPr>
          </a:p>
          <a:p>
            <a:pPr indent="-457200">
              <a:spcBef>
                <a:spcPts val="640"/>
              </a:spcBef>
              <a:buSzPts val="3200"/>
              <a:buFont typeface="Wingdings" panose="05000000000000000000" pitchFamily="2" charset="2"/>
              <a:buChar char="Ø"/>
            </a:pPr>
            <a:r>
              <a:rPr lang="en-US" sz="2800" dirty="0">
                <a:latin typeface="Times New Roman" panose="02020603050405020304" pitchFamily="18" charset="0"/>
                <a:ea typeface="Times New Roman"/>
                <a:cs typeface="Times New Roman" panose="02020603050405020304" pitchFamily="18" charset="0"/>
                <a:sym typeface="Times New Roman"/>
              </a:rPr>
              <a:t>References</a:t>
            </a:r>
            <a:endParaRPr sz="2800" dirty="0">
              <a:latin typeface="Times New Roman" panose="02020603050405020304" pitchFamily="18" charset="0"/>
              <a:cs typeface="Times New Roman" panose="02020603050405020304" pitchFamily="18" charset="0"/>
            </a:endParaRPr>
          </a:p>
          <a:p>
            <a:pPr marL="342900" indent="-139700">
              <a:spcBef>
                <a:spcPts val="640"/>
              </a:spcBef>
              <a:buSzPts val="3200"/>
              <a:buNone/>
            </a:pPr>
            <a:endParaRPr dirty="0"/>
          </a:p>
          <a:p>
            <a:pPr marL="342900" indent="-139700">
              <a:spcBef>
                <a:spcPts val="640"/>
              </a:spcBef>
              <a:buSzPts val="32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r>
              <a:rPr lang="en-US" sz="3600" b="1" dirty="0">
                <a:latin typeface="Times New Roman"/>
                <a:ea typeface="Times New Roman"/>
                <a:cs typeface="Times New Roman"/>
                <a:sym typeface="Times New Roman"/>
              </a:rPr>
              <a:t>Problem Statement</a:t>
            </a:r>
            <a:br>
              <a:rPr lang="en-US" sz="3600" b="1" dirty="0">
                <a:latin typeface="Times New Roman"/>
                <a:ea typeface="Times New Roman"/>
                <a:cs typeface="Times New Roman"/>
                <a:sym typeface="Times New Roman"/>
              </a:rPr>
            </a:br>
            <a:endParaRPr sz="1800" b="1" dirty="0">
              <a:latin typeface="Times New Roman"/>
              <a:ea typeface="Times New Roman"/>
              <a:cs typeface="Times New Roman"/>
              <a:sym typeface="Times New Roman"/>
            </a:endParaRPr>
          </a:p>
        </p:txBody>
      </p:sp>
      <p:sp>
        <p:nvSpPr>
          <p:cNvPr id="108" name="Google Shape;108;p17"/>
          <p:cNvSpPr txBox="1">
            <a:spLocks noGrp="1"/>
          </p:cNvSpPr>
          <p:nvPr>
            <p:ph type="body" idx="1"/>
          </p:nvPr>
        </p:nvSpPr>
        <p:spPr>
          <a:xfrm>
            <a:off x="622169" y="1600201"/>
            <a:ext cx="10953946" cy="4525963"/>
          </a:xfrm>
          <a:prstGeom prst="rect">
            <a:avLst/>
          </a:prstGeom>
          <a:noFill/>
          <a:ln>
            <a:noFill/>
          </a:ln>
        </p:spPr>
        <p:txBody>
          <a:bodyPr spcFirstLastPara="1" wrap="square" lIns="91425" tIns="45700" rIns="91425" bIns="45700" anchor="t" anchorCtr="0">
            <a:noAutofit/>
          </a:bodyPr>
          <a:lstStyle/>
          <a:p>
            <a:pPr marL="0" indent="0" algn="just" eaLnBrk="0" fontAlgn="base" hangingPunct="0">
              <a:spcBef>
                <a:spcPct val="0"/>
              </a:spcBef>
              <a:spcAft>
                <a:spcPct val="0"/>
              </a:spcAft>
              <a:buClrTx/>
              <a:buSzTx/>
              <a:buNone/>
            </a:pPr>
            <a:r>
              <a:rPr lang="en-US" dirty="0">
                <a:latin typeface="Times New Roman" panose="02020603050405020304" pitchFamily="18" charset="0"/>
                <a:cs typeface="Times New Roman" panose="02020603050405020304" pitchFamily="18" charset="0"/>
              </a:rPr>
              <a:t>The need for efficient home management has grown, as traditional appliance controls are cumbersome and inefficient. This project uses an Arduino Mega to develop a touchscreen home automation system, allowing users to control appliances via a smartphone app, touch sensor, and IR remote. The system provides a unified platform for simplified control, enhancing accessibility and energy efficiency.</a:t>
            </a:r>
            <a:endParaRPr lang="en-US"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r>
              <a:rPr lang="en-US" sz="3600" b="1" dirty="0">
                <a:latin typeface="Times New Roman"/>
                <a:ea typeface="Times New Roman"/>
                <a:cs typeface="Times New Roman"/>
                <a:sym typeface="Times New Roman"/>
              </a:rPr>
              <a:t>Abstract</a:t>
            </a:r>
            <a:br>
              <a:rPr lang="en-US" sz="3600" b="1" dirty="0">
                <a:latin typeface="Times New Roman"/>
                <a:ea typeface="Times New Roman"/>
                <a:cs typeface="Times New Roman"/>
                <a:sym typeface="Times New Roman"/>
              </a:rPr>
            </a:br>
            <a:endParaRPr sz="1600" b="1" dirty="0">
              <a:latin typeface="Times New Roman"/>
              <a:ea typeface="Times New Roman"/>
              <a:cs typeface="Times New Roman"/>
              <a:sym typeface="Times New Roman"/>
            </a:endParaRPr>
          </a:p>
        </p:txBody>
      </p:sp>
      <p:sp>
        <p:nvSpPr>
          <p:cNvPr id="114" name="Google Shape;114;p18"/>
          <p:cNvSpPr txBox="1">
            <a:spLocks noGrp="1"/>
          </p:cNvSpPr>
          <p:nvPr>
            <p:ph type="body" idx="1"/>
          </p:nvPr>
        </p:nvSpPr>
        <p:spPr>
          <a:xfrm>
            <a:off x="612742" y="1535063"/>
            <a:ext cx="10890411" cy="4733658"/>
          </a:xfrm>
          <a:prstGeom prst="rect">
            <a:avLst/>
          </a:prstGeom>
          <a:noFill/>
          <a:ln>
            <a:noFill/>
          </a:ln>
        </p:spPr>
        <p:txBody>
          <a:bodyPr spcFirstLastPara="1" wrap="square" lIns="91425" tIns="45700" rIns="91425" bIns="45700" anchor="t" anchorCtr="0">
            <a:noAutofit/>
          </a:bodyPr>
          <a:lstStyle/>
          <a:p>
            <a:pPr algn="just">
              <a:spcBef>
                <a:spcPts val="0"/>
              </a:spcBef>
              <a:buNone/>
            </a:pPr>
            <a:r>
              <a:rPr lang="en-US" dirty="0">
                <a:latin typeface="Times New Roman" panose="02020603050405020304" pitchFamily="18" charset="0"/>
                <a:cs typeface="Times New Roman" panose="02020603050405020304" pitchFamily="18" charset="0"/>
              </a:rPr>
              <a:t>   The touchscreen automation system uses an Arduino Mega to control household appliances through Bluetooth (via a smartphone app), an IR remote, and a touch sensor. A 4-channel relay module manages appliances like lights, a fan, and a socket. App allows control via buttons or voice commands, providing a versatile and convenient home automation solution.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D20453F-D31D-7F37-420F-DF0A420277E0}"/>
              </a:ext>
            </a:extLst>
          </p:cNvPr>
          <p:cNvGraphicFramePr>
            <a:graphicFrameLocks noGrp="1"/>
          </p:cNvGraphicFramePr>
          <p:nvPr>
            <p:extLst>
              <p:ext uri="{D42A27DB-BD31-4B8C-83A1-F6EECF244321}">
                <p14:modId xmlns:p14="http://schemas.microsoft.com/office/powerpoint/2010/main" val="2663477018"/>
              </p:ext>
            </p:extLst>
          </p:nvPr>
        </p:nvGraphicFramePr>
        <p:xfrm>
          <a:off x="631596" y="1034680"/>
          <a:ext cx="10925667" cy="5568803"/>
        </p:xfrm>
        <a:graphic>
          <a:graphicData uri="http://schemas.openxmlformats.org/drawingml/2006/table">
            <a:tbl>
              <a:tblPr firstRow="1" bandRow="1">
                <a:tableStyleId>{5940675A-B579-460E-94D1-54222C63F5DA}</a:tableStyleId>
              </a:tblPr>
              <a:tblGrid>
                <a:gridCol w="990362">
                  <a:extLst>
                    <a:ext uri="{9D8B030D-6E8A-4147-A177-3AD203B41FA5}">
                      <a16:colId xmlns:a16="http://schemas.microsoft.com/office/drawing/2014/main" val="3913990754"/>
                    </a:ext>
                  </a:extLst>
                </a:gridCol>
                <a:gridCol w="4258553">
                  <a:extLst>
                    <a:ext uri="{9D8B030D-6E8A-4147-A177-3AD203B41FA5}">
                      <a16:colId xmlns:a16="http://schemas.microsoft.com/office/drawing/2014/main" val="2929991845"/>
                    </a:ext>
                  </a:extLst>
                </a:gridCol>
                <a:gridCol w="2079760">
                  <a:extLst>
                    <a:ext uri="{9D8B030D-6E8A-4147-A177-3AD203B41FA5}">
                      <a16:colId xmlns:a16="http://schemas.microsoft.com/office/drawing/2014/main" val="1928018421"/>
                    </a:ext>
                  </a:extLst>
                </a:gridCol>
                <a:gridCol w="3596992">
                  <a:extLst>
                    <a:ext uri="{9D8B030D-6E8A-4147-A177-3AD203B41FA5}">
                      <a16:colId xmlns:a16="http://schemas.microsoft.com/office/drawing/2014/main" val="3257883290"/>
                    </a:ext>
                  </a:extLst>
                </a:gridCol>
              </a:tblGrid>
              <a:tr h="580657">
                <a:tc>
                  <a:txBody>
                    <a:bodyPr/>
                    <a:lstStyle/>
                    <a:p>
                      <a:pPr algn="just"/>
                      <a:r>
                        <a:rPr lang="en-US" sz="1400" dirty="0">
                          <a:latin typeface="Times New Roman" panose="02020603050405020304" pitchFamily="18" charset="0"/>
                          <a:cs typeface="Times New Roman" panose="02020603050405020304" pitchFamily="18" charset="0"/>
                        </a:rPr>
                        <a:t>Year of</a:t>
                      </a:r>
                    </a:p>
                    <a:p>
                      <a:pPr algn="just"/>
                      <a:r>
                        <a:rPr lang="en-US" sz="1400" dirty="0">
                          <a:latin typeface="Times New Roman" panose="02020603050405020304" pitchFamily="18" charset="0"/>
                          <a:cs typeface="Times New Roman" panose="02020603050405020304" pitchFamily="18" charset="0"/>
                        </a:rPr>
                        <a:t>publication</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Author</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Publication </a:t>
                      </a:r>
                    </a:p>
                    <a:p>
                      <a:pPr algn="just"/>
                      <a:r>
                        <a:rPr lang="en-US" sz="1400" dirty="0">
                          <a:latin typeface="Times New Roman" panose="02020603050405020304" pitchFamily="18" charset="0"/>
                          <a:cs typeface="Times New Roman" panose="02020603050405020304" pitchFamily="18" charset="0"/>
                        </a:rPr>
                        <a:t>Paper </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Application</a:t>
                      </a:r>
                    </a:p>
                  </a:txBody>
                  <a:tcPr/>
                </a:tc>
                <a:extLst>
                  <a:ext uri="{0D108BD9-81ED-4DB2-BD59-A6C34878D82A}">
                    <a16:rowId xmlns:a16="http://schemas.microsoft.com/office/drawing/2014/main" val="3165493018"/>
                  </a:ext>
                </a:extLst>
              </a:tr>
              <a:tr h="690296">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February 2021</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dirty="0" err="1">
                          <a:latin typeface="Times New Roman" panose="02020603050405020304" pitchFamily="18" charset="0"/>
                          <a:cs typeface="Times New Roman" panose="02020603050405020304" pitchFamily="18" charset="0"/>
                        </a:rPr>
                        <a:t>Samruddhi</a:t>
                      </a:r>
                      <a:r>
                        <a:rPr lang="en-IN" sz="1400" dirty="0">
                          <a:latin typeface="Times New Roman" panose="02020603050405020304" pitchFamily="18" charset="0"/>
                          <a:cs typeface="Times New Roman" panose="02020603050405020304" pitchFamily="18" charset="0"/>
                        </a:rPr>
                        <a:t> Fasi , Neha </a:t>
                      </a:r>
                      <a:r>
                        <a:rPr lang="en-IN" sz="1400" dirty="0" err="1">
                          <a:latin typeface="Times New Roman" panose="02020603050405020304" pitchFamily="18" charset="0"/>
                          <a:cs typeface="Times New Roman" panose="02020603050405020304" pitchFamily="18" charset="0"/>
                        </a:rPr>
                        <a:t>Khanaj</a:t>
                      </a:r>
                      <a:r>
                        <a:rPr lang="en-IN" sz="1400" dirty="0">
                          <a:latin typeface="Times New Roman" panose="02020603050405020304" pitchFamily="18" charset="0"/>
                          <a:cs typeface="Times New Roman" panose="02020603050405020304" pitchFamily="18" charset="0"/>
                        </a:rPr>
                        <a:t>, Pratiksha </a:t>
                      </a:r>
                      <a:r>
                        <a:rPr lang="en-IN" sz="1400" dirty="0" err="1">
                          <a:latin typeface="Times New Roman" panose="02020603050405020304" pitchFamily="18" charset="0"/>
                          <a:cs typeface="Times New Roman" panose="02020603050405020304" pitchFamily="18" charset="0"/>
                        </a:rPr>
                        <a:t>Lokare</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Poorva</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Shreshthi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Ms.R.R.Gaji</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Home automation system</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The GSM-based system enables remote control of home appliances via smartphone, enhancing convenience and security.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61549789"/>
                  </a:ext>
                </a:extLst>
              </a:tr>
              <a:tr h="87855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April 2019</a:t>
                      </a:r>
                    </a:p>
                  </a:txBody>
                  <a:tcPr/>
                </a:tc>
                <a:tc>
                  <a:txBody>
                    <a:bodyPr/>
                    <a:lstStyle/>
                    <a:p>
                      <a:pPr algn="just"/>
                      <a:r>
                        <a:rPr lang="en-IN" sz="1400" dirty="0" err="1">
                          <a:latin typeface="Times New Roman" panose="02020603050405020304" pitchFamily="18" charset="0"/>
                          <a:cs typeface="Times New Roman" panose="02020603050405020304" pitchFamily="18" charset="0"/>
                        </a:rPr>
                        <a:t>Kondapalli</a:t>
                      </a:r>
                      <a:r>
                        <a:rPr lang="en-IN" sz="1400" dirty="0">
                          <a:latin typeface="Times New Roman" panose="02020603050405020304" pitchFamily="18" charset="0"/>
                          <a:cs typeface="Times New Roman" panose="02020603050405020304" pitchFamily="18" charset="0"/>
                        </a:rPr>
                        <a:t> Jayaram Kumar, </a:t>
                      </a:r>
                      <a:r>
                        <a:rPr lang="en-IN" sz="1400" dirty="0" err="1">
                          <a:latin typeface="Times New Roman" panose="02020603050405020304" pitchFamily="18" charset="0"/>
                          <a:cs typeface="Times New Roman" panose="02020603050405020304" pitchFamily="18" charset="0"/>
                        </a:rPr>
                        <a:t>Chodisetti</a:t>
                      </a:r>
                      <a:r>
                        <a:rPr lang="en-IN" sz="1400" dirty="0">
                          <a:latin typeface="Times New Roman" panose="02020603050405020304" pitchFamily="18" charset="0"/>
                          <a:cs typeface="Times New Roman" panose="02020603050405020304" pitchFamily="18" charset="0"/>
                        </a:rPr>
                        <a:t> Venkata Balaji, </a:t>
                      </a:r>
                      <a:r>
                        <a:rPr lang="en-IN" sz="1400" dirty="0" err="1">
                          <a:latin typeface="Times New Roman" panose="02020603050405020304" pitchFamily="18" charset="0"/>
                          <a:cs typeface="Times New Roman" panose="02020603050405020304" pitchFamily="18" charset="0"/>
                        </a:rPr>
                        <a:t>Sukkireddy</a:t>
                      </a:r>
                      <a:r>
                        <a:rPr lang="en-IN" sz="1400" dirty="0">
                          <a:latin typeface="Times New Roman" panose="02020603050405020304" pitchFamily="18" charset="0"/>
                          <a:cs typeface="Times New Roman" panose="02020603050405020304" pitchFamily="18" charset="0"/>
                        </a:rPr>
                        <a:t> V </a:t>
                      </a:r>
                      <a:r>
                        <a:rPr lang="en-IN" sz="1400" dirty="0" err="1">
                          <a:latin typeface="Times New Roman" panose="02020603050405020304" pitchFamily="18" charset="0"/>
                          <a:cs typeface="Times New Roman" panose="02020603050405020304" pitchFamily="18" charset="0"/>
                        </a:rPr>
                        <a:t>V</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Manikanta</a:t>
                      </a:r>
                      <a:r>
                        <a:rPr lang="en-IN" sz="1400" dirty="0">
                          <a:latin typeface="Times New Roman" panose="02020603050405020304" pitchFamily="18" charset="0"/>
                          <a:cs typeface="Times New Roman" panose="02020603050405020304" pitchFamily="18" charset="0"/>
                        </a:rPr>
                        <a:t> Swamy Naidu, </a:t>
                      </a:r>
                      <a:r>
                        <a:rPr lang="en-IN" sz="1400" dirty="0" err="1">
                          <a:latin typeface="Times New Roman" panose="02020603050405020304" pitchFamily="18" charset="0"/>
                          <a:cs typeface="Times New Roman" panose="02020603050405020304" pitchFamily="18" charset="0"/>
                        </a:rPr>
                        <a:t>Vendra</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Vamsidhar</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Desaneedi</a:t>
                      </a:r>
                      <a:r>
                        <a:rPr lang="en-IN" sz="1400" dirty="0">
                          <a:latin typeface="Times New Roman" panose="02020603050405020304" pitchFamily="18" charset="0"/>
                          <a:cs typeface="Times New Roman" panose="02020603050405020304" pitchFamily="18" charset="0"/>
                        </a:rPr>
                        <a:t> Satish</a:t>
                      </a:r>
                    </a:p>
                  </a:txBody>
                  <a:tcPr/>
                </a:tc>
                <a:tc>
                  <a:txBody>
                    <a:bodyPr/>
                    <a:lstStyle/>
                    <a:p>
                      <a:pPr algn="just"/>
                      <a:r>
                        <a:rPr lang="en-US" sz="1400" dirty="0">
                          <a:latin typeface="Times New Roman" panose="02020603050405020304" pitchFamily="18" charset="0"/>
                          <a:cs typeface="Times New Roman" panose="02020603050405020304" pitchFamily="18" charset="0"/>
                        </a:rPr>
                        <a:t>CAPSENSE BASED TOUCH PANEL CONTROLLED HOME AUTOMATION</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The </a:t>
                      </a:r>
                      <a:r>
                        <a:rPr lang="en-US" sz="1400" dirty="0" err="1">
                          <a:latin typeface="Times New Roman" panose="02020603050405020304" pitchFamily="18" charset="0"/>
                          <a:cs typeface="Times New Roman" panose="02020603050405020304" pitchFamily="18" charset="0"/>
                        </a:rPr>
                        <a:t>Capsense</a:t>
                      </a:r>
                      <a:r>
                        <a:rPr lang="en-US" sz="1400" dirty="0">
                          <a:latin typeface="Times New Roman" panose="02020603050405020304" pitchFamily="18" charset="0"/>
                          <a:cs typeface="Times New Roman" panose="02020603050405020304" pitchFamily="18" charset="0"/>
                        </a:rPr>
                        <a:t>-based system enables touch and app-based control of home appliances via IoT, providing convenience and accessibility for all users.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38809982"/>
                  </a:ext>
                </a:extLst>
              </a:tr>
              <a:tr h="1208626">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November 2018</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dirty="0" err="1">
                          <a:latin typeface="Times New Roman" panose="02020603050405020304" pitchFamily="18" charset="0"/>
                          <a:cs typeface="Times New Roman" panose="02020603050405020304" pitchFamily="18" charset="0"/>
                        </a:rPr>
                        <a:t>Prof.Ami</a:t>
                      </a:r>
                      <a:r>
                        <a:rPr lang="en-IN" sz="1400" dirty="0">
                          <a:latin typeface="Times New Roman" panose="02020603050405020304" pitchFamily="18" charset="0"/>
                          <a:cs typeface="Times New Roman" panose="02020603050405020304" pitchFamily="18" charset="0"/>
                        </a:rPr>
                        <a:t> Munshi, Roshan </a:t>
                      </a:r>
                      <a:r>
                        <a:rPr lang="en-IN" sz="1400" dirty="0" err="1">
                          <a:latin typeface="Times New Roman" panose="02020603050405020304" pitchFamily="18" charset="0"/>
                          <a:cs typeface="Times New Roman" panose="02020603050405020304" pitchFamily="18" charset="0"/>
                        </a:rPr>
                        <a:t>Gosalia</a:t>
                      </a:r>
                      <a:r>
                        <a:rPr lang="en-IN" sz="1400" dirty="0">
                          <a:latin typeface="Times New Roman" panose="02020603050405020304" pitchFamily="18" charset="0"/>
                          <a:cs typeface="Times New Roman" panose="02020603050405020304" pitchFamily="18" charset="0"/>
                        </a:rPr>
                        <a:t>(Student), </a:t>
                      </a:r>
                      <a:r>
                        <a:rPr lang="en-IN" sz="1400" dirty="0" err="1">
                          <a:latin typeface="Times New Roman" panose="02020603050405020304" pitchFamily="18" charset="0"/>
                          <a:cs typeface="Times New Roman" panose="02020603050405020304" pitchFamily="18" charset="0"/>
                        </a:rPr>
                        <a:t>Darshil</a:t>
                      </a:r>
                      <a:r>
                        <a:rPr lang="en-IN" sz="1400" dirty="0">
                          <a:latin typeface="Times New Roman" panose="02020603050405020304" pitchFamily="18" charset="0"/>
                          <a:cs typeface="Times New Roman" panose="02020603050405020304" pitchFamily="18" charset="0"/>
                        </a:rPr>
                        <a:t> Gala(student</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Android Based Home Automation System</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This application demonstrates the integration of mobile technology with home electronics, providing a step towards creating a more connected and efficient living environment.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963244"/>
                  </a:ext>
                </a:extLst>
              </a:tr>
              <a:tr h="87855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March 2018</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Prof. Manohar </a:t>
                      </a:r>
                      <a:r>
                        <a:rPr lang="en-IN" sz="1400" dirty="0" err="1">
                          <a:latin typeface="Times New Roman" panose="02020603050405020304" pitchFamily="18" charset="0"/>
                          <a:cs typeface="Times New Roman" panose="02020603050405020304" pitchFamily="18" charset="0"/>
                        </a:rPr>
                        <a:t>Wagh,Vrushabh</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Gadhari,Harshad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Sonawane</a:t>
                      </a:r>
                      <a:r>
                        <a:rPr lang="en-IN" sz="1400" dirty="0">
                          <a:latin typeface="Times New Roman" panose="02020603050405020304" pitchFamily="18" charset="0"/>
                          <a:cs typeface="Times New Roman" panose="02020603050405020304" pitchFamily="18" charset="0"/>
                        </a:rPr>
                        <a:t>, Shriram Shekar , Rahul Mahala.</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Touch screen  based automation system</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This system aims to provide a user-friendly, secure, and efficient way to manage various aspects of a home environment through a centralized touch screen interface.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9328743"/>
                  </a:ext>
                </a:extLst>
              </a:tr>
              <a:tr h="1066822">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June 2014</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dirty="0" err="1">
                          <a:latin typeface="Times New Roman" panose="02020603050405020304" pitchFamily="18" charset="0"/>
                          <a:cs typeface="Times New Roman" panose="02020603050405020304" pitchFamily="18" charset="0"/>
                        </a:rPr>
                        <a:t>Mr.Yash</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Inaniya</a:t>
                      </a:r>
                      <a:r>
                        <a:rPr lang="en-IN" sz="1400" dirty="0">
                          <a:latin typeface="Times New Roman" panose="02020603050405020304" pitchFamily="18" charset="0"/>
                          <a:cs typeface="Times New Roman" panose="02020603050405020304" pitchFamily="18" charset="0"/>
                        </a:rPr>
                        <a:t>, Naresh Kumari and Urvashi Luthra. </a:t>
                      </a:r>
                    </a:p>
                  </a:txBody>
                  <a:tcPr/>
                </a:tc>
                <a:tc>
                  <a:txBody>
                    <a:bodyPr/>
                    <a:lstStyle/>
                    <a:p>
                      <a:pPr algn="just"/>
                      <a:r>
                        <a:rPr lang="en-US" sz="1400" dirty="0">
                          <a:latin typeface="Times New Roman" panose="02020603050405020304" pitchFamily="18" charset="0"/>
                          <a:cs typeface="Times New Roman" panose="02020603050405020304" pitchFamily="18" charset="0"/>
                        </a:rPr>
                        <a:t>Automation</a:t>
                      </a:r>
                    </a:p>
                    <a:p>
                      <a:pPr algn="just"/>
                      <a:r>
                        <a:rPr lang="en-US" sz="1400" dirty="0">
                          <a:latin typeface="Times New Roman" panose="02020603050405020304" pitchFamily="18" charset="0"/>
                          <a:cs typeface="Times New Roman" panose="02020603050405020304" pitchFamily="18" charset="0"/>
                        </a:rPr>
                        <a:t>System using capacitive </a:t>
                      </a:r>
                    </a:p>
                    <a:p>
                      <a:pPr algn="just"/>
                      <a:r>
                        <a:rPr lang="en-US" sz="1400" dirty="0">
                          <a:latin typeface="Times New Roman" panose="02020603050405020304" pitchFamily="18" charset="0"/>
                          <a:cs typeface="Times New Roman" panose="02020603050405020304" pitchFamily="18" charset="0"/>
                        </a:rPr>
                        <a:t>screen</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The paper emphasizes that this system is designed to be cost-effective, using readily available materials, and can be expanded to control more devices beyond the four demonstrated in the project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83551880"/>
                  </a:ext>
                </a:extLst>
              </a:tr>
            </a:tbl>
          </a:graphicData>
        </a:graphic>
      </p:graphicFrame>
      <p:sp>
        <p:nvSpPr>
          <p:cNvPr id="3" name="Title 2">
            <a:extLst>
              <a:ext uri="{FF2B5EF4-FFF2-40B4-BE49-F238E27FC236}">
                <a16:creationId xmlns:a16="http://schemas.microsoft.com/office/drawing/2014/main" id="{70A65674-8375-E051-44F9-1985524E8895}"/>
              </a:ext>
            </a:extLst>
          </p:cNvPr>
          <p:cNvSpPr>
            <a:spLocks noGrp="1"/>
          </p:cNvSpPr>
          <p:nvPr>
            <p:ph type="title"/>
          </p:nvPr>
        </p:nvSpPr>
        <p:spPr>
          <a:xfrm>
            <a:off x="1981200" y="0"/>
            <a:ext cx="8229600" cy="1143000"/>
          </a:xfrm>
        </p:spPr>
        <p:txBody>
          <a:bodyPr/>
          <a:lstStyle/>
          <a:p>
            <a:r>
              <a:rPr lang="en-US" sz="3600" b="1" dirty="0">
                <a:latin typeface="Times New Roman" panose="02020603050405020304" pitchFamily="18" charset="0"/>
                <a:cs typeface="Times New Roman" panose="02020603050405020304" pitchFamily="18" charset="0"/>
              </a:rPr>
              <a:t>Literature Survey</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2933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txBox="1">
            <a:spLocks noGrp="1"/>
          </p:cNvSpPr>
          <p:nvPr>
            <p:ph type="title"/>
          </p:nvPr>
        </p:nvSpPr>
        <p:spPr>
          <a:xfrm>
            <a:off x="1981200" y="0"/>
            <a:ext cx="8229600" cy="1143000"/>
          </a:xfrm>
          <a:prstGeom prst="rect">
            <a:avLst/>
          </a:prstGeom>
          <a:noFill/>
          <a:ln>
            <a:noFill/>
          </a:ln>
        </p:spPr>
        <p:txBody>
          <a:bodyPr spcFirstLastPara="1" wrap="square" lIns="91425" tIns="45700" rIns="91425" bIns="45700" anchor="ctr" anchorCtr="0">
            <a:noAutofit/>
          </a:bodyPr>
          <a:lstStyle/>
          <a:p>
            <a:r>
              <a:rPr lang="en-US" sz="3600" b="1" dirty="0">
                <a:latin typeface="Times New Roman"/>
                <a:ea typeface="Times New Roman"/>
                <a:cs typeface="Times New Roman"/>
                <a:sym typeface="Times New Roman"/>
              </a:rPr>
              <a:t>Introduction</a:t>
            </a:r>
            <a:endParaRPr dirty="0"/>
          </a:p>
        </p:txBody>
      </p:sp>
      <p:sp>
        <p:nvSpPr>
          <p:cNvPr id="120" name="Google Shape;120;p19"/>
          <p:cNvSpPr txBox="1">
            <a:spLocks noGrp="1"/>
          </p:cNvSpPr>
          <p:nvPr>
            <p:ph type="body" idx="1"/>
          </p:nvPr>
        </p:nvSpPr>
        <p:spPr>
          <a:xfrm>
            <a:off x="603315" y="1339153"/>
            <a:ext cx="10972800" cy="6634480"/>
          </a:xfrm>
          <a:prstGeom prst="rect">
            <a:avLst/>
          </a:prstGeom>
          <a:noFill/>
          <a:ln>
            <a:noFill/>
          </a:ln>
        </p:spPr>
        <p:txBody>
          <a:bodyPr spcFirstLastPara="1" wrap="square" lIns="91425" tIns="45700" rIns="91425" bIns="45700" anchor="t" anchorCtr="0">
            <a:noAutofit/>
          </a:bodyPr>
          <a:lstStyle/>
          <a:p>
            <a:pPr marL="114300" indent="0" algn="just">
              <a:buNone/>
            </a:pPr>
            <a:r>
              <a:rPr lang="en-US" dirty="0">
                <a:latin typeface="Times New Roman" panose="02020603050405020304" pitchFamily="18" charset="0"/>
                <a:cs typeface="Times New Roman" panose="02020603050405020304" pitchFamily="18" charset="0"/>
              </a:rPr>
              <a:t>The evolution of smart home technologies has brought convenience, safety, and energy efficiency to our daily lives. This project presents a touchscreen automation system controlled by an Arduino Mega, which integrates multiple control methods—smartphone app, touch sensor, and IR remote—to manage household appliances. The system aims to make home management more accessible, flexible, and convenient by combining different control interfaces in one automation solution.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br>
              <a:rPr lang="en-US" sz="3600" dirty="0">
                <a:solidFill>
                  <a:srgbClr val="C00000"/>
                </a:solidFill>
                <a:latin typeface="Times New Roman"/>
                <a:ea typeface="Times New Roman"/>
                <a:cs typeface="Times New Roman"/>
                <a:sym typeface="Times New Roman"/>
              </a:rPr>
            </a:br>
            <a:r>
              <a:rPr lang="en-US" sz="3600" b="1" dirty="0">
                <a:solidFill>
                  <a:schemeClr val="tx1"/>
                </a:solidFill>
                <a:latin typeface="Times New Roman"/>
                <a:ea typeface="Times New Roman"/>
                <a:cs typeface="Times New Roman"/>
                <a:sym typeface="Times New Roman"/>
              </a:rPr>
              <a:t>Block</a:t>
            </a:r>
            <a:r>
              <a:rPr lang="en-US" sz="3600" dirty="0">
                <a:solidFill>
                  <a:srgbClr val="C00000"/>
                </a:solidFill>
                <a:latin typeface="Times New Roman"/>
                <a:ea typeface="Times New Roman"/>
                <a:cs typeface="Times New Roman"/>
                <a:sym typeface="Times New Roman"/>
              </a:rPr>
              <a:t> </a:t>
            </a:r>
            <a:r>
              <a:rPr lang="en-US" sz="3600" b="1" dirty="0">
                <a:solidFill>
                  <a:schemeClr val="tx1"/>
                </a:solidFill>
                <a:latin typeface="Times New Roman"/>
                <a:ea typeface="Times New Roman"/>
                <a:cs typeface="Times New Roman"/>
                <a:sym typeface="Times New Roman"/>
              </a:rPr>
              <a:t>Diagram</a:t>
            </a:r>
            <a:r>
              <a:rPr lang="en-US" sz="3600" dirty="0">
                <a:solidFill>
                  <a:srgbClr val="C00000"/>
                </a:solidFill>
                <a:latin typeface="Times New Roman"/>
                <a:ea typeface="Times New Roman"/>
                <a:cs typeface="Times New Roman"/>
                <a:sym typeface="Times New Roman"/>
              </a:rPr>
              <a:t> </a:t>
            </a:r>
            <a:br>
              <a:rPr lang="en-US" sz="3600" dirty="0">
                <a:solidFill>
                  <a:srgbClr val="C00000"/>
                </a:solidFill>
                <a:latin typeface="Times New Roman"/>
                <a:ea typeface="Times New Roman"/>
                <a:cs typeface="Times New Roman"/>
                <a:sym typeface="Times New Roman"/>
              </a:rPr>
            </a:br>
            <a:endParaRPr sz="3600" b="1" dirty="0">
              <a:latin typeface="Times New Roman"/>
              <a:ea typeface="Times New Roman"/>
              <a:cs typeface="Times New Roman"/>
              <a:sym typeface="Times New Roman"/>
            </a:endParaRPr>
          </a:p>
        </p:txBody>
      </p:sp>
      <p:pic>
        <p:nvPicPr>
          <p:cNvPr id="2" name="Picture 1">
            <a:extLst>
              <a:ext uri="{FF2B5EF4-FFF2-40B4-BE49-F238E27FC236}">
                <a16:creationId xmlns:a16="http://schemas.microsoft.com/office/drawing/2014/main" id="{0E5FE0CB-80FB-1F10-DE72-AD585B0C667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286000" y="1532383"/>
            <a:ext cx="7924800" cy="44195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r>
              <a:rPr lang="en-US" sz="3600" b="1" dirty="0">
                <a:latin typeface="Times New Roman" panose="02020603050405020304" pitchFamily="18" charset="0"/>
                <a:cs typeface="Times New Roman" panose="02020603050405020304" pitchFamily="18" charset="0"/>
              </a:rPr>
              <a:t>Circuit Diagram</a:t>
            </a:r>
            <a:endParaRPr sz="36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97B70DD-E3A2-618F-4551-4DD070D930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2290" y="1417638"/>
            <a:ext cx="7647419" cy="40672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F73FB95C-3AC4-6E21-6A21-5A7A2C01EF74}"/>
            </a:ext>
          </a:extLst>
        </p:cNvPr>
        <p:cNvGrpSpPr/>
        <p:nvPr/>
      </p:nvGrpSpPr>
      <p:grpSpPr>
        <a:xfrm>
          <a:off x="0" y="0"/>
          <a:ext cx="0" cy="0"/>
          <a:chOff x="0" y="0"/>
          <a:chExt cx="0" cy="0"/>
        </a:xfrm>
      </p:grpSpPr>
      <p:sp>
        <p:nvSpPr>
          <p:cNvPr id="119" name="Google Shape;119;p19">
            <a:extLst>
              <a:ext uri="{FF2B5EF4-FFF2-40B4-BE49-F238E27FC236}">
                <a16:creationId xmlns:a16="http://schemas.microsoft.com/office/drawing/2014/main" id="{99AF77EA-AD0C-92B0-5010-52D45111C2C4}"/>
              </a:ext>
            </a:extLst>
          </p:cNvPr>
          <p:cNvSpPr txBox="1">
            <a:spLocks noGrp="1"/>
          </p:cNvSpPr>
          <p:nvPr>
            <p:ph type="title"/>
          </p:nvPr>
        </p:nvSpPr>
        <p:spPr>
          <a:xfrm>
            <a:off x="1981200" y="0"/>
            <a:ext cx="8229600" cy="1143000"/>
          </a:xfrm>
          <a:prstGeom prst="rect">
            <a:avLst/>
          </a:prstGeom>
          <a:noFill/>
          <a:ln>
            <a:noFill/>
          </a:ln>
        </p:spPr>
        <p:txBody>
          <a:bodyPr spcFirstLastPara="1" wrap="square" lIns="91425" tIns="45700" rIns="91425" bIns="45700" anchor="ctr" anchorCtr="0">
            <a:noAutofit/>
          </a:bodyPr>
          <a:lstStyle/>
          <a:p>
            <a:r>
              <a:rPr lang="en-US" sz="3600" b="1" dirty="0">
                <a:latin typeface="Times New Roman"/>
                <a:cs typeface="Times New Roman"/>
                <a:sym typeface="Times New Roman"/>
              </a:rPr>
              <a:t>Working</a:t>
            </a:r>
            <a:endParaRPr dirty="0"/>
          </a:p>
        </p:txBody>
      </p:sp>
      <p:sp>
        <p:nvSpPr>
          <p:cNvPr id="120" name="Google Shape;120;p19">
            <a:extLst>
              <a:ext uri="{FF2B5EF4-FFF2-40B4-BE49-F238E27FC236}">
                <a16:creationId xmlns:a16="http://schemas.microsoft.com/office/drawing/2014/main" id="{724EB3CB-8F7C-1DEA-AA2C-D0B14487E808}"/>
              </a:ext>
            </a:extLst>
          </p:cNvPr>
          <p:cNvSpPr txBox="1">
            <a:spLocks noGrp="1"/>
          </p:cNvSpPr>
          <p:nvPr>
            <p:ph type="body" idx="1"/>
          </p:nvPr>
        </p:nvSpPr>
        <p:spPr>
          <a:xfrm>
            <a:off x="527901" y="905520"/>
            <a:ext cx="11208470" cy="6033760"/>
          </a:xfrm>
          <a:prstGeom prst="rect">
            <a:avLst/>
          </a:prstGeom>
          <a:noFill/>
          <a:ln>
            <a:noFill/>
          </a:ln>
        </p:spPr>
        <p:txBody>
          <a:bodyPr spcFirstLastPara="1" wrap="square" lIns="91425" tIns="45700" rIns="91425" bIns="45700" anchor="t" anchorCtr="0">
            <a:noAutofit/>
          </a:bodyPr>
          <a:lstStyle/>
          <a:p>
            <a:pPr marL="0" indent="0" algn="just" eaLnBrk="0" fontAlgn="base" hangingPunct="0">
              <a:spcBef>
                <a:spcPct val="0"/>
              </a:spcBef>
              <a:spcAft>
                <a:spcPct val="0"/>
              </a:spcAft>
              <a:buClrTx/>
              <a:buSzTx/>
              <a:buNone/>
            </a:pPr>
            <a:r>
              <a:rPr lang="en-US" altLang="en-US" sz="3000" dirty="0">
                <a:solidFill>
                  <a:schemeClr val="tx1"/>
                </a:solidFill>
                <a:latin typeface="Times New Roman" panose="02020603050405020304" pitchFamily="18" charset="0"/>
                <a:cs typeface="Times New Roman" panose="02020603050405020304" pitchFamily="18" charset="0"/>
              </a:rPr>
              <a:t>The touchscreen automation system is controlled by an Arduino Mega and allows users to manage household appliances in multiple ways—via a smartphone app, a touch sensor, or an IR remote. The Arduino receives control commands from a Bluetooth module, touch sensor, or IR receiver, processes them, and then activates the corresponding relay to control AC appliances like lights, fans, and sockets. The relay module, powered by a 5V adapter and connected to the 220V AC mains, switches these appliances on or off as directed. The smartphone app, offers an easy-to-use interface with buttons and voice commands for seamless control. This setup provides a convenient and flexible way to manage household devices, integrating both wireless and direct manual inputs.</a:t>
            </a:r>
          </a:p>
          <a:p>
            <a:pPr marL="0" indent="0" eaLnBrk="0" fontAlgn="base" hangingPunct="0">
              <a:spcBef>
                <a:spcPct val="0"/>
              </a:spcBef>
              <a:spcAft>
                <a:spcPct val="0"/>
              </a:spcAft>
              <a:buClrTx/>
              <a:buSzTx/>
              <a:buNone/>
            </a:pPr>
            <a:endParaRPr lang="en-US" altLang="en-US" sz="3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4191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758A24C-B791-566C-62A6-23923BFAD244}"/>
              </a:ext>
            </a:extLst>
          </p:cNvPr>
          <p:cNvGraphicFramePr/>
          <p:nvPr>
            <p:extLst>
              <p:ext uri="{D42A27DB-BD31-4B8C-83A1-F6EECF244321}">
                <p14:modId xmlns:p14="http://schemas.microsoft.com/office/powerpoint/2010/main" val="2898291382"/>
              </p:ext>
            </p:extLst>
          </p:nvPr>
        </p:nvGraphicFramePr>
        <p:xfrm>
          <a:off x="2217177" y="1535074"/>
          <a:ext cx="7595419" cy="47952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2" name="Google Shape;152;p24"/>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r>
              <a:rPr lang="en-US" sz="3600" b="1" dirty="0">
                <a:latin typeface="Times New Roman"/>
                <a:ea typeface="Times New Roman"/>
                <a:cs typeface="Times New Roman"/>
                <a:sym typeface="Times New Roman"/>
              </a:rPr>
              <a:t>Hardware &amp; Software Requirements</a:t>
            </a:r>
            <a:endParaRPr dirty="0"/>
          </a:p>
        </p:txBody>
      </p:sp>
      <p:graphicFrame>
        <p:nvGraphicFramePr>
          <p:cNvPr id="5" name="Table 4">
            <a:extLst>
              <a:ext uri="{FF2B5EF4-FFF2-40B4-BE49-F238E27FC236}">
                <a16:creationId xmlns:a16="http://schemas.microsoft.com/office/drawing/2014/main" id="{D1AFACA8-2991-9C69-9E50-4ABCF7180475}"/>
              </a:ext>
            </a:extLst>
          </p:cNvPr>
          <p:cNvGraphicFramePr>
            <a:graphicFrameLocks noGrp="1"/>
          </p:cNvGraphicFramePr>
          <p:nvPr>
            <p:extLst>
              <p:ext uri="{D42A27DB-BD31-4B8C-83A1-F6EECF244321}">
                <p14:modId xmlns:p14="http://schemas.microsoft.com/office/powerpoint/2010/main" val="2938853125"/>
              </p:ext>
            </p:extLst>
          </p:nvPr>
        </p:nvGraphicFramePr>
        <p:xfrm>
          <a:off x="1715678" y="1535074"/>
          <a:ext cx="8766928" cy="4343400"/>
        </p:xfrm>
        <a:graphic>
          <a:graphicData uri="http://schemas.openxmlformats.org/drawingml/2006/table">
            <a:tbl>
              <a:tblPr firstRow="1" bandRow="1">
                <a:tableStyleId>{93296810-A885-4BE3-A3E7-6D5BEEA58F35}</a:tableStyleId>
              </a:tblPr>
              <a:tblGrid>
                <a:gridCol w="3758442">
                  <a:extLst>
                    <a:ext uri="{9D8B030D-6E8A-4147-A177-3AD203B41FA5}">
                      <a16:colId xmlns:a16="http://schemas.microsoft.com/office/drawing/2014/main" val="934944812"/>
                    </a:ext>
                  </a:extLst>
                </a:gridCol>
                <a:gridCol w="5008486">
                  <a:extLst>
                    <a:ext uri="{9D8B030D-6E8A-4147-A177-3AD203B41FA5}">
                      <a16:colId xmlns:a16="http://schemas.microsoft.com/office/drawing/2014/main" val="3289763818"/>
                    </a:ext>
                  </a:extLst>
                </a:gridCol>
              </a:tblGrid>
              <a:tr h="370840">
                <a:tc>
                  <a:txBody>
                    <a:bodyPr/>
                    <a:lstStyle/>
                    <a:p>
                      <a:pPr algn="l"/>
                      <a:r>
                        <a:rPr lang="en-US" sz="1900" dirty="0"/>
                        <a:t>Component</a:t>
                      </a:r>
                      <a:endParaRPr lang="en-IN" sz="1900" dirty="0">
                        <a:latin typeface="Times New Roman" panose="02020603050405020304" pitchFamily="18" charset="0"/>
                        <a:cs typeface="Times New Roman" panose="02020603050405020304" pitchFamily="18" charset="0"/>
                      </a:endParaRPr>
                    </a:p>
                  </a:txBody>
                  <a:tcPr/>
                </a:tc>
                <a:tc>
                  <a:txBody>
                    <a:bodyPr/>
                    <a:lstStyle/>
                    <a:p>
                      <a:r>
                        <a:rPr lang="en-US" sz="1900" dirty="0"/>
                        <a:t>Description</a:t>
                      </a:r>
                      <a:endParaRPr lang="en-IN" sz="19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20851044"/>
                  </a:ext>
                </a:extLst>
              </a:tr>
              <a:tr h="370840">
                <a:tc>
                  <a:txBody>
                    <a:bodyPr/>
                    <a:lstStyle/>
                    <a:p>
                      <a:r>
                        <a:rPr lang="en-US" sz="2000" dirty="0">
                          <a:latin typeface="Times New Roman" panose="02020603050405020304" pitchFamily="18" charset="0"/>
                          <a:cs typeface="Times New Roman" panose="02020603050405020304" pitchFamily="18" charset="0"/>
                        </a:rPr>
                        <a:t>A</a:t>
                      </a:r>
                      <a:r>
                        <a:rPr lang="en-IN" sz="2000" dirty="0" err="1">
                          <a:latin typeface="Times New Roman" panose="02020603050405020304" pitchFamily="18" charset="0"/>
                          <a:cs typeface="Times New Roman" panose="02020603050405020304" pitchFamily="18" charset="0"/>
                        </a:rPr>
                        <a:t>rduino</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Atmega</a:t>
                      </a:r>
                      <a:r>
                        <a:rPr lang="en-IN" sz="2000" dirty="0">
                          <a:latin typeface="Times New Roman" panose="02020603050405020304" pitchFamily="18" charset="0"/>
                          <a:cs typeface="Times New Roman" panose="02020603050405020304" pitchFamily="18" charset="0"/>
                        </a:rPr>
                        <a:t> 2560 Rev3</a:t>
                      </a:r>
                    </a:p>
                  </a:txBody>
                  <a:tcPr/>
                </a:tc>
                <a:tc>
                  <a:txBody>
                    <a:bodyPr/>
                    <a:lstStyle/>
                    <a:p>
                      <a:r>
                        <a:rPr lang="en-US" sz="2000" dirty="0">
                          <a:latin typeface="Times New Roman" panose="02020603050405020304" pitchFamily="18" charset="0"/>
                          <a:cs typeface="Times New Roman" panose="02020603050405020304" pitchFamily="18" charset="0"/>
                        </a:rPr>
                        <a:t>For wireless communication and control.</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78127707"/>
                  </a:ext>
                </a:extLst>
              </a:tr>
              <a:tr h="370840">
                <a:tc>
                  <a:txBody>
                    <a:bodyPr/>
                    <a:lstStyle/>
                    <a:p>
                      <a:r>
                        <a:rPr lang="en-IN" sz="2000" dirty="0">
                          <a:latin typeface="Times New Roman" panose="02020603050405020304" pitchFamily="18" charset="0"/>
                          <a:cs typeface="Times New Roman" panose="02020603050405020304" pitchFamily="18" charset="0"/>
                        </a:rPr>
                        <a:t>4-Channel Relay Module</a:t>
                      </a:r>
                    </a:p>
                  </a:txBody>
                  <a:tcPr/>
                </a:tc>
                <a:tc>
                  <a:txBody>
                    <a:bodyPr/>
                    <a:lstStyle/>
                    <a:p>
                      <a:r>
                        <a:rPr lang="en-US" sz="2000" dirty="0">
                          <a:latin typeface="Times New Roman" panose="02020603050405020304" pitchFamily="18" charset="0"/>
                          <a:cs typeface="Times New Roman" panose="02020603050405020304" pitchFamily="18" charset="0"/>
                        </a:rPr>
                        <a:t>To control 2 fans and 2 bulbs.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5489679"/>
                  </a:ext>
                </a:extLst>
              </a:tr>
              <a:tr h="370840">
                <a:tc>
                  <a:txBody>
                    <a:bodyPr/>
                    <a:lstStyle/>
                    <a:p>
                      <a:r>
                        <a:rPr lang="en-IN" sz="2000" dirty="0">
                          <a:latin typeface="Times New Roman" panose="02020603050405020304" pitchFamily="18" charset="0"/>
                          <a:cs typeface="Times New Roman" panose="02020603050405020304" pitchFamily="18" charset="0"/>
                        </a:rPr>
                        <a:t>TFT Touch Display</a:t>
                      </a:r>
                    </a:p>
                  </a:txBody>
                  <a:tcPr/>
                </a:tc>
                <a:tc>
                  <a:txBody>
                    <a:bodyPr/>
                    <a:lstStyle/>
                    <a:p>
                      <a:r>
                        <a:rPr lang="en-US" sz="2000" dirty="0">
                          <a:latin typeface="Times New Roman" panose="02020603050405020304" pitchFamily="18" charset="0"/>
                          <a:cs typeface="Times New Roman" panose="02020603050405020304" pitchFamily="18" charset="0"/>
                        </a:rPr>
                        <a:t>For touch-based control of appliances.</a:t>
                      </a:r>
                    </a:p>
                  </a:txBody>
                  <a:tcPr/>
                </a:tc>
                <a:extLst>
                  <a:ext uri="{0D108BD9-81ED-4DB2-BD59-A6C34878D82A}">
                    <a16:rowId xmlns:a16="http://schemas.microsoft.com/office/drawing/2014/main" val="949285155"/>
                  </a:ext>
                </a:extLst>
              </a:tr>
              <a:tr h="370840">
                <a:tc>
                  <a:txBody>
                    <a:bodyPr/>
                    <a:lstStyle/>
                    <a:p>
                      <a:r>
                        <a:rPr lang="en-IN" sz="2000" dirty="0">
                          <a:latin typeface="Times New Roman" panose="02020603050405020304" pitchFamily="18" charset="0"/>
                          <a:cs typeface="Times New Roman" panose="02020603050405020304" pitchFamily="18" charset="0"/>
                        </a:rPr>
                        <a:t>HC-05 Bluetooth Module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latin typeface="Times New Roman" panose="02020603050405020304" pitchFamily="18" charset="0"/>
                          <a:cs typeface="Times New Roman" panose="02020603050405020304" pitchFamily="18" charset="0"/>
                        </a:rPr>
                        <a:t>Enables wireless serial communication.</a:t>
                      </a:r>
                    </a:p>
                  </a:txBody>
                  <a:tcPr/>
                </a:tc>
                <a:extLst>
                  <a:ext uri="{0D108BD9-81ED-4DB2-BD59-A6C34878D82A}">
                    <a16:rowId xmlns:a16="http://schemas.microsoft.com/office/drawing/2014/main" val="2843847367"/>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IR Receiver</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Receives signal from IR remote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591037"/>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IR Remote Control</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Sends commands to control appliances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39849750"/>
                  </a:ext>
                </a:extLst>
              </a:tr>
              <a:tr h="370840">
                <a:tc>
                  <a:txBody>
                    <a:bodyPr/>
                    <a:lstStyle/>
                    <a:p>
                      <a:r>
                        <a:rPr lang="en-IN" sz="2000" dirty="0">
                          <a:latin typeface="Times New Roman" panose="02020603050405020304" pitchFamily="18" charset="0"/>
                          <a:cs typeface="Times New Roman" panose="02020603050405020304" pitchFamily="18" charset="0"/>
                        </a:rPr>
                        <a:t>Power Supply (5V, 2A) x2</a:t>
                      </a:r>
                    </a:p>
                  </a:txBody>
                  <a:tcPr/>
                </a:tc>
                <a:tc>
                  <a:txBody>
                    <a:bodyPr/>
                    <a:lstStyle/>
                    <a:p>
                      <a:r>
                        <a:rPr lang="en-US" sz="2000" dirty="0">
                          <a:latin typeface="Times New Roman" panose="02020603050405020304" pitchFamily="18" charset="0"/>
                          <a:cs typeface="Times New Roman" panose="02020603050405020304" pitchFamily="18" charset="0"/>
                        </a:rPr>
                        <a:t>To power the ESP32 circuits and relays.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0455638"/>
                  </a:ext>
                </a:extLst>
              </a:tr>
              <a:tr h="370840">
                <a:tc>
                  <a:txBody>
                    <a:bodyPr/>
                    <a:lstStyle/>
                    <a:p>
                      <a:r>
                        <a:rPr lang="en-IN" sz="2000" dirty="0">
                          <a:latin typeface="Times New Roman" panose="02020603050405020304" pitchFamily="18" charset="0"/>
                          <a:cs typeface="Times New Roman" panose="02020603050405020304" pitchFamily="18" charset="0"/>
                        </a:rPr>
                        <a:t>Connectors and Wires</a:t>
                      </a:r>
                    </a:p>
                  </a:txBody>
                  <a:tcPr/>
                </a:tc>
                <a:tc>
                  <a:txBody>
                    <a:bodyPr/>
                    <a:lstStyle/>
                    <a:p>
                      <a:r>
                        <a:rPr lang="en-IN" sz="2000" dirty="0">
                          <a:latin typeface="Times New Roman" panose="02020603050405020304" pitchFamily="18" charset="0"/>
                          <a:cs typeface="Times New Roman" panose="02020603050405020304" pitchFamily="18" charset="0"/>
                        </a:rPr>
                        <a:t>For connecting components.</a:t>
                      </a:r>
                    </a:p>
                  </a:txBody>
                  <a:tcPr/>
                </a:tc>
                <a:extLst>
                  <a:ext uri="{0D108BD9-81ED-4DB2-BD59-A6C34878D82A}">
                    <a16:rowId xmlns:a16="http://schemas.microsoft.com/office/drawing/2014/main" val="2866996087"/>
                  </a:ext>
                </a:extLst>
              </a:tr>
              <a:tr h="370840">
                <a:tc>
                  <a:txBody>
                    <a:bodyPr/>
                    <a:lstStyle/>
                    <a:p>
                      <a:r>
                        <a:rPr lang="en-US" sz="2000" dirty="0">
                          <a:latin typeface="Times New Roman" panose="02020603050405020304" pitchFamily="18" charset="0"/>
                          <a:cs typeface="Times New Roman" panose="02020603050405020304" pitchFamily="18" charset="0"/>
                        </a:rPr>
                        <a:t>Appliances x4</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Appliances to be controlled.</a:t>
                      </a:r>
                    </a:p>
                  </a:txBody>
                  <a:tcPr/>
                </a:tc>
                <a:extLst>
                  <a:ext uri="{0D108BD9-81ED-4DB2-BD59-A6C34878D82A}">
                    <a16:rowId xmlns:a16="http://schemas.microsoft.com/office/drawing/2014/main" val="2787976419"/>
                  </a:ext>
                </a:extLst>
              </a:tr>
              <a:tr h="370840">
                <a:tc>
                  <a:txBody>
                    <a:bodyPr/>
                    <a:lstStyle/>
                    <a:p>
                      <a:r>
                        <a:rPr lang="en-IN" sz="2000" dirty="0">
                          <a:latin typeface="Times New Roman" panose="02020603050405020304" pitchFamily="18" charset="0"/>
                          <a:cs typeface="Times New Roman" panose="02020603050405020304" pitchFamily="18" charset="0"/>
                        </a:rPr>
                        <a:t>Arduino IDE</a:t>
                      </a:r>
                    </a:p>
                  </a:txBody>
                  <a:tcPr/>
                </a:tc>
                <a:tc>
                  <a:txBody>
                    <a:bodyPr/>
                    <a:lstStyle/>
                    <a:p>
                      <a:r>
                        <a:rPr lang="en-US" sz="2000" dirty="0">
                          <a:latin typeface="Times New Roman" panose="02020603050405020304" pitchFamily="18" charset="0"/>
                          <a:cs typeface="Times New Roman" panose="02020603050405020304" pitchFamily="18" charset="0"/>
                        </a:rPr>
                        <a:t>For programming the modules.</a:t>
                      </a:r>
                    </a:p>
                  </a:txBody>
                  <a:tcPr/>
                </a:tc>
                <a:extLst>
                  <a:ext uri="{0D108BD9-81ED-4DB2-BD59-A6C34878D82A}">
                    <a16:rowId xmlns:a16="http://schemas.microsoft.com/office/drawing/2014/main" val="425561672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r>
              <a:rPr lang="en-US" sz="3600" b="1" dirty="0">
                <a:latin typeface="Times New Roman" panose="02020603050405020304" pitchFamily="18" charset="0"/>
                <a:cs typeface="Times New Roman" panose="02020603050405020304" pitchFamily="18" charset="0"/>
              </a:rPr>
              <a:t>Expected Result</a:t>
            </a:r>
            <a:endParaRPr sz="3600" b="1" dirty="0">
              <a:latin typeface="Times New Roman" panose="02020603050405020304" pitchFamily="18" charset="0"/>
              <a:cs typeface="Times New Roman" panose="02020603050405020304" pitchFamily="18" charset="0"/>
            </a:endParaRPr>
          </a:p>
        </p:txBody>
      </p:sp>
      <p:sp>
        <p:nvSpPr>
          <p:cNvPr id="140" name="Google Shape;140;p22"/>
          <p:cNvSpPr txBox="1">
            <a:spLocks noGrp="1"/>
          </p:cNvSpPr>
          <p:nvPr>
            <p:ph type="body" idx="1"/>
          </p:nvPr>
        </p:nvSpPr>
        <p:spPr>
          <a:xfrm>
            <a:off x="754144" y="1417638"/>
            <a:ext cx="10265790" cy="4526100"/>
          </a:xfrm>
          <a:prstGeom prst="rect">
            <a:avLst/>
          </a:prstGeom>
          <a:noFill/>
          <a:ln>
            <a:noFill/>
          </a:ln>
        </p:spPr>
        <p:txBody>
          <a:bodyPr spcFirstLastPara="1" wrap="square" lIns="91425" tIns="45700" rIns="91425" bIns="45700" anchor="t" anchorCtr="0">
            <a:noAutofit/>
          </a:bodyPr>
          <a:lstStyle/>
          <a:p>
            <a:pPr marL="514350" indent="-514350" algn="just">
              <a:buSzPct val="9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 real-time control of two bulbs, a Fan and a Power Socket through the TFT touch display ,voice commands ,Smartphone app and IR remote</a:t>
            </a:r>
          </a:p>
          <a:p>
            <a:pPr marL="514350" indent="-514350" algn="just">
              <a:buSzPct val="9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Offer users flexible control options with quick response times.</a:t>
            </a:r>
          </a:p>
          <a:p>
            <a:pPr marL="514350" indent="-514350" algn="just">
              <a:buSzPct val="9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Function reliably across different conditions, making it suitable for home Applications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1981200" y="5410"/>
            <a:ext cx="8229600" cy="1143000"/>
          </a:xfrm>
          <a:prstGeom prst="rect">
            <a:avLst/>
          </a:prstGeom>
          <a:noFill/>
          <a:ln>
            <a:noFill/>
          </a:ln>
        </p:spPr>
        <p:txBody>
          <a:bodyPr spcFirstLastPara="1" wrap="square" lIns="91425" tIns="45700" rIns="91425" bIns="45700" anchor="ctr" anchorCtr="0">
            <a:noAutofit/>
          </a:bodyPr>
          <a:lstStyle/>
          <a:p>
            <a:r>
              <a:rPr lang="en-US" sz="3600" b="1" dirty="0">
                <a:latin typeface="Times New Roman" panose="02020603050405020304" pitchFamily="18" charset="0"/>
                <a:cs typeface="Times New Roman" panose="02020603050405020304" pitchFamily="18" charset="0"/>
              </a:rPr>
              <a:t>Future Scope</a:t>
            </a:r>
            <a:endParaRPr sz="36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A85A3F48-EBA5-7ECE-DC1B-50E07014968B}"/>
              </a:ext>
            </a:extLst>
          </p:cNvPr>
          <p:cNvSpPr>
            <a:spLocks noGrp="1" noChangeArrowheads="1"/>
          </p:cNvSpPr>
          <p:nvPr>
            <p:ph type="body" idx="1"/>
          </p:nvPr>
        </p:nvSpPr>
        <p:spPr bwMode="auto">
          <a:xfrm>
            <a:off x="586033" y="1235353"/>
            <a:ext cx="1101993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p>
            <a:pPr indent="-457200" algn="just" eaLnBrk="0" fontAlgn="base" hangingPunct="0">
              <a:spcBef>
                <a:spcPct val="0"/>
              </a:spcBef>
              <a:spcAft>
                <a:spcPct val="0"/>
              </a:spcAft>
              <a:buClrTx/>
              <a:buSzTx/>
              <a:buFont typeface="Wingdings" panose="05000000000000000000" pitchFamily="2" charset="2"/>
              <a:buChar char="Ø"/>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Expanded Appliance Control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can be scaled to control more devices, including additional home appliances.</a:t>
            </a:r>
          </a:p>
          <a:p>
            <a:pPr indent="-457200" algn="just" eaLnBrk="0" fontAlgn="base" hangingPunct="0">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Energy Monitoring: Integrate energy consumption tracking to optimize power usage for connected devices.</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indent="-457200" algn="just" eaLnBrk="0" fontAlgn="base" hangingPunct="0">
              <a:spcBef>
                <a:spcPct val="0"/>
              </a:spcBef>
              <a:spcAft>
                <a:spcPct val="0"/>
              </a:spcAft>
              <a:buClrTx/>
              <a:buSzTx/>
              <a:buFont typeface="Wingdings" panose="05000000000000000000" pitchFamily="2" charset="2"/>
              <a:buChar char="Ø"/>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Voice Recognition: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Integrating advanced AI voice recognition could improve accuracy and enable more complex voice commands.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1981200" y="-106719"/>
            <a:ext cx="8229600" cy="1143000"/>
          </a:xfrm>
          <a:prstGeom prst="rect">
            <a:avLst/>
          </a:prstGeom>
          <a:noFill/>
          <a:ln>
            <a:noFill/>
          </a:ln>
        </p:spPr>
        <p:txBody>
          <a:bodyPr spcFirstLastPara="1" wrap="square" lIns="91425" tIns="45700" rIns="91425" bIns="45700" anchor="ctr" anchorCtr="0">
            <a:noAutofit/>
          </a:bodyPr>
          <a:lstStyle/>
          <a:p>
            <a:r>
              <a:rPr lang="en-US" sz="3600" b="1" dirty="0">
                <a:latin typeface="Times New Roman"/>
                <a:ea typeface="Times New Roman"/>
                <a:cs typeface="Times New Roman"/>
                <a:sym typeface="Times New Roman"/>
              </a:rPr>
              <a:t>References </a:t>
            </a:r>
            <a:endParaRPr sz="3600" b="1" dirty="0">
              <a:solidFill>
                <a:srgbClr val="C00000"/>
              </a:solidFill>
              <a:latin typeface="Times New Roman"/>
              <a:ea typeface="Times New Roman"/>
              <a:cs typeface="Times New Roman"/>
              <a:sym typeface="Times New Roman"/>
            </a:endParaRPr>
          </a:p>
        </p:txBody>
      </p:sp>
      <p:sp>
        <p:nvSpPr>
          <p:cNvPr id="158" name="Google Shape;158;p25"/>
          <p:cNvSpPr txBox="1">
            <a:spLocks noGrp="1"/>
          </p:cNvSpPr>
          <p:nvPr>
            <p:ph type="body" idx="1"/>
          </p:nvPr>
        </p:nvSpPr>
        <p:spPr>
          <a:xfrm>
            <a:off x="509047" y="735339"/>
            <a:ext cx="11151910" cy="6333898"/>
          </a:xfrm>
          <a:prstGeom prst="rect">
            <a:avLst/>
          </a:prstGeom>
          <a:noFill/>
          <a:ln>
            <a:noFill/>
          </a:ln>
        </p:spPr>
        <p:txBody>
          <a:bodyPr spcFirstLastPara="1" wrap="square" lIns="91425" tIns="45700" rIns="91425" bIns="45700" anchor="t" anchorCtr="0">
            <a:noAutofit/>
          </a:bodyPr>
          <a:lstStyle/>
          <a:p>
            <a:pPr marL="0" indent="0" algn="just" eaLnBrk="0" fontAlgn="base" hangingPunct="0">
              <a:spcBef>
                <a:spcPct val="0"/>
              </a:spcBef>
              <a:spcAft>
                <a:spcPct val="0"/>
              </a:spcAft>
              <a:buNone/>
            </a:pPr>
            <a:r>
              <a:rPr lang="en-IN" sz="2600" dirty="0">
                <a:latin typeface="Times New Roman" panose="02020603050405020304" pitchFamily="18" charset="0"/>
                <a:cs typeface="Times New Roman" panose="02020603050405020304" pitchFamily="18" charset="0"/>
              </a:rPr>
              <a:t>[1] </a:t>
            </a:r>
            <a:r>
              <a:rPr lang="en-IN" sz="2600" dirty="0" err="1">
                <a:latin typeface="Times New Roman" panose="02020603050405020304" pitchFamily="18" charset="0"/>
                <a:cs typeface="Times New Roman" panose="02020603050405020304" pitchFamily="18" charset="0"/>
              </a:rPr>
              <a:t>Mr.Yash</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Inaniya</a:t>
            </a:r>
            <a:r>
              <a:rPr lang="en-IN" sz="2600" dirty="0">
                <a:latin typeface="Times New Roman" panose="02020603050405020304" pitchFamily="18" charset="0"/>
                <a:cs typeface="Times New Roman" panose="02020603050405020304" pitchFamily="18" charset="0"/>
              </a:rPr>
              <a:t>, Naresh Kumari and Urvashi Luthra “Home automation using capacitive </a:t>
            </a:r>
            <a:r>
              <a:rPr lang="en-IN" sz="2600" dirty="0" err="1">
                <a:latin typeface="Times New Roman" panose="02020603050405020304" pitchFamily="18" charset="0"/>
                <a:cs typeface="Times New Roman" panose="02020603050405020304" pitchFamily="18" charset="0"/>
              </a:rPr>
              <a:t>touchscreen”,June</a:t>
            </a:r>
            <a:r>
              <a:rPr lang="en-IN" sz="2600" dirty="0">
                <a:latin typeface="Times New Roman" panose="02020603050405020304" pitchFamily="18" charset="0"/>
                <a:cs typeface="Times New Roman" panose="02020603050405020304" pitchFamily="18" charset="0"/>
              </a:rPr>
              <a:t> 2014,</a:t>
            </a:r>
            <a:r>
              <a:rPr lang="en-US" sz="2600" dirty="0">
                <a:latin typeface="Times New Roman" panose="02020603050405020304" pitchFamily="18" charset="0"/>
                <a:cs typeface="Times New Roman" panose="02020603050405020304" pitchFamily="18" charset="0"/>
              </a:rPr>
              <a:t> al Int. Journal of Engineering Research and Applications ISSN : 2248-9622, Vol. 4, Issue 6( Version 2)</a:t>
            </a:r>
          </a:p>
          <a:p>
            <a:pPr marL="0" indent="0" algn="just" eaLnBrk="0" fontAlgn="base" hangingPunct="0">
              <a:spcBef>
                <a:spcPct val="0"/>
              </a:spcBef>
              <a:spcAft>
                <a:spcPct val="0"/>
              </a:spcAft>
              <a:buNone/>
            </a:pPr>
            <a:endParaRPr lang="en-US" sz="2600" dirty="0">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r>
              <a:rPr lang="en-US" sz="2600" dirty="0">
                <a:latin typeface="Times New Roman" panose="02020603050405020304" pitchFamily="18" charset="0"/>
                <a:cs typeface="Times New Roman" panose="02020603050405020304" pitchFamily="18" charset="0"/>
              </a:rPr>
              <a:t>[2] </a:t>
            </a:r>
            <a:r>
              <a:rPr lang="en-US" sz="2600" dirty="0" err="1">
                <a:latin typeface="Times New Roman" panose="02020603050405020304" pitchFamily="18" charset="0"/>
                <a:cs typeface="Times New Roman" panose="02020603050405020304" pitchFamily="18" charset="0"/>
              </a:rPr>
              <a:t>Prof.Manohar</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Wagh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Vrushabh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Gadhari</a:t>
            </a:r>
            <a:r>
              <a:rPr lang="en-US" sz="2600" dirty="0">
                <a:latin typeface="Times New Roman" panose="02020603050405020304" pitchFamily="18" charset="0"/>
                <a:cs typeface="Times New Roman" panose="02020603050405020304" pitchFamily="18" charset="0"/>
              </a:rPr>
              <a:t>, Harshad </a:t>
            </a:r>
            <a:r>
              <a:rPr lang="en-US" sz="2600" dirty="0" err="1">
                <a:latin typeface="Times New Roman" panose="02020603050405020304" pitchFamily="18" charset="0"/>
                <a:cs typeface="Times New Roman" panose="02020603050405020304" pitchFamily="18" charset="0"/>
              </a:rPr>
              <a:t>Sonawane</a:t>
            </a:r>
            <a:r>
              <a:rPr lang="en-US" sz="2600" dirty="0">
                <a:latin typeface="Times New Roman" panose="02020603050405020304" pitchFamily="18" charset="0"/>
                <a:cs typeface="Times New Roman" panose="02020603050405020304" pitchFamily="18" charset="0"/>
              </a:rPr>
              <a:t>, Shriram </a:t>
            </a:r>
            <a:r>
              <a:rPr lang="en-US" sz="2600" dirty="0" err="1">
                <a:latin typeface="Times New Roman" panose="02020603050405020304" pitchFamily="18" charset="0"/>
                <a:cs typeface="Times New Roman" panose="02020603050405020304" pitchFamily="18" charset="0"/>
              </a:rPr>
              <a:t>Shelar</a:t>
            </a:r>
            <a:r>
              <a:rPr lang="en-US" sz="2600" dirty="0">
                <a:latin typeface="Times New Roman" panose="02020603050405020304" pitchFamily="18" charset="0"/>
                <a:cs typeface="Times New Roman" panose="02020603050405020304" pitchFamily="18" charset="0"/>
              </a:rPr>
              <a:t>, Rahul </a:t>
            </a:r>
            <a:r>
              <a:rPr lang="en-US" sz="2600" dirty="0" err="1">
                <a:latin typeface="Times New Roman" panose="02020603050405020304" pitchFamily="18" charset="0"/>
                <a:cs typeface="Times New Roman" panose="02020603050405020304" pitchFamily="18" charset="0"/>
              </a:rPr>
              <a:t>Mahale</a:t>
            </a:r>
            <a:r>
              <a:rPr lang="en-US" sz="2600" dirty="0">
                <a:latin typeface="Times New Roman" panose="02020603050405020304" pitchFamily="18" charset="0"/>
                <a:cs typeface="Times New Roman" panose="02020603050405020304" pitchFamily="18" charset="0"/>
              </a:rPr>
              <a:t> “touch screen based automation </a:t>
            </a:r>
            <a:r>
              <a:rPr lang="en-US" sz="2600" dirty="0" err="1">
                <a:latin typeface="Times New Roman" panose="02020603050405020304" pitchFamily="18" charset="0"/>
                <a:cs typeface="Times New Roman" panose="02020603050405020304" pitchFamily="18" charset="0"/>
              </a:rPr>
              <a:t>system”,March</a:t>
            </a:r>
            <a:r>
              <a:rPr lang="en-US" sz="2600" dirty="0">
                <a:latin typeface="Times New Roman" panose="02020603050405020304" pitchFamily="18" charset="0"/>
                <a:cs typeface="Times New Roman" panose="02020603050405020304" pitchFamily="18" charset="0"/>
              </a:rPr>
              <a:t> 2018, at International Research Journal of Engineering and Technology(IRJET)</a:t>
            </a:r>
          </a:p>
          <a:p>
            <a:pPr marL="0" indent="0" algn="just" eaLnBrk="0" fontAlgn="base" hangingPunct="0">
              <a:spcBef>
                <a:spcPct val="0"/>
              </a:spcBef>
              <a:spcAft>
                <a:spcPct val="0"/>
              </a:spcAft>
              <a:buNone/>
            </a:pPr>
            <a:endParaRPr lang="en-IN" sz="2600" dirty="0">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r>
              <a:rPr lang="en-IN" sz="2600" dirty="0">
                <a:latin typeface="Times New Roman" panose="02020603050405020304" pitchFamily="18" charset="0"/>
                <a:cs typeface="Times New Roman" panose="02020603050405020304" pitchFamily="18" charset="0"/>
              </a:rPr>
              <a:t>[3] </a:t>
            </a:r>
            <a:r>
              <a:rPr lang="en-IN" sz="2600" dirty="0" err="1">
                <a:latin typeface="Times New Roman" panose="02020603050405020304" pitchFamily="18" charset="0"/>
                <a:cs typeface="Times New Roman" panose="02020603050405020304" pitchFamily="18" charset="0"/>
              </a:rPr>
              <a:t>Prof.Ami</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Munshi,Roshan</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Gosalia,Darshil</a:t>
            </a:r>
            <a:r>
              <a:rPr lang="en-IN" sz="2600" dirty="0">
                <a:latin typeface="Times New Roman" panose="02020603050405020304" pitchFamily="18" charset="0"/>
                <a:cs typeface="Times New Roman" panose="02020603050405020304" pitchFamily="18" charset="0"/>
              </a:rPr>
              <a:t> Gala, “android based automation </a:t>
            </a:r>
            <a:r>
              <a:rPr lang="en-IN" sz="2600" dirty="0" err="1">
                <a:latin typeface="Times New Roman" panose="02020603050405020304" pitchFamily="18" charset="0"/>
                <a:cs typeface="Times New Roman" panose="02020603050405020304" pitchFamily="18" charset="0"/>
              </a:rPr>
              <a:t>system”,November</a:t>
            </a:r>
            <a:r>
              <a:rPr lang="en-IN" sz="2600" dirty="0">
                <a:latin typeface="Times New Roman" panose="02020603050405020304" pitchFamily="18" charset="0"/>
                <a:cs typeface="Times New Roman" panose="02020603050405020304" pitchFamily="18" charset="0"/>
              </a:rPr>
              <a:t> 2018, at </a:t>
            </a:r>
            <a:r>
              <a:rPr lang="en-US" sz="2600" dirty="0">
                <a:latin typeface="Times New Roman" panose="02020603050405020304" pitchFamily="18" charset="0"/>
                <a:cs typeface="Times New Roman" panose="02020603050405020304" pitchFamily="18" charset="0"/>
              </a:rPr>
              <a:t>International Journal of Scientific &amp; Engineering Research Volume 9, Issue 11</a:t>
            </a:r>
            <a:endParaRPr lang="en-IN" sz="2600" dirty="0">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endParaRPr lang="en-IN" sz="2600" dirty="0">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r>
              <a:rPr lang="en-IN" sz="2600" dirty="0">
                <a:latin typeface="Times New Roman" panose="02020603050405020304" pitchFamily="18" charset="0"/>
                <a:cs typeface="Times New Roman" panose="02020603050405020304" pitchFamily="18" charset="0"/>
              </a:rPr>
              <a:t>[4] </a:t>
            </a:r>
            <a:r>
              <a:rPr lang="en-IN" sz="2600" dirty="0" err="1">
                <a:latin typeface="Times New Roman" panose="02020603050405020304" pitchFamily="18" charset="0"/>
                <a:cs typeface="Times New Roman" panose="02020603050405020304" pitchFamily="18" charset="0"/>
              </a:rPr>
              <a:t>Er.VikramPuri</a:t>
            </a:r>
            <a:r>
              <a:rPr lang="en-IN" sz="2600" dirty="0">
                <a:latin typeface="Times New Roman" panose="02020603050405020304" pitchFamily="18" charset="0"/>
                <a:cs typeface="Times New Roman" panose="02020603050405020304" pitchFamily="18" charset="0"/>
              </a:rPr>
              <a:t>, IEEE, “Real Time Smart Home Automation based on PIC Microcontroller, Bluetooth and Android Technology”, March 2016, At faculty- Embedded System &amp; Robotics, Enjoin Technologies. </a:t>
            </a:r>
          </a:p>
          <a:p>
            <a:pPr marL="0" indent="0" algn="just" eaLnBrk="0" fontAlgn="base" hangingPunct="0">
              <a:spcBef>
                <a:spcPct val="0"/>
              </a:spcBef>
              <a:spcAft>
                <a:spcPct val="0"/>
              </a:spcAft>
              <a:buNone/>
            </a:pPr>
            <a:endParaRPr lang="en-US" sz="2600" dirty="0">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endParaRPr lang="en-US" sz="2600" dirty="0">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ctrTitle"/>
          </p:nvPr>
        </p:nvSpPr>
        <p:spPr>
          <a:xfrm>
            <a:off x="2209800" y="2130426"/>
            <a:ext cx="7772400" cy="1470025"/>
          </a:xfrm>
          <a:prstGeom prst="rect">
            <a:avLst/>
          </a:prstGeom>
          <a:noFill/>
          <a:ln>
            <a:noFill/>
          </a:ln>
        </p:spPr>
        <p:txBody>
          <a:bodyPr spcFirstLastPara="1" wrap="square" lIns="91425" tIns="45700" rIns="91425" bIns="45700" anchor="ctr" anchorCtr="0">
            <a:noAutofit/>
          </a:bodyPr>
          <a:lstStyle/>
          <a:p>
            <a:r>
              <a:rPr lang="en-US" b="1" dirty="0">
                <a:latin typeface="Times New Roman"/>
                <a:ea typeface="Times New Roman"/>
                <a:cs typeface="Times New Roman"/>
                <a:sym typeface="Times New Roman"/>
              </a:rPr>
              <a:t>THANK YOU</a:t>
            </a:r>
            <a:br>
              <a:rPr lang="en-US" sz="1600" b="1" dirty="0">
                <a:latin typeface="Times New Roman"/>
                <a:ea typeface="Times New Roman"/>
                <a:cs typeface="Times New Roman"/>
                <a:sym typeface="Times New Roman"/>
              </a:rPr>
            </a:br>
            <a:endParaRPr dirty="0">
              <a:latin typeface="Times New Roman"/>
              <a:ea typeface="Times New Roman"/>
              <a:cs typeface="Times New Roman"/>
              <a:sym typeface="Times New Roman"/>
            </a:endParaRPr>
          </a:p>
        </p:txBody>
      </p:sp>
      <p:sp>
        <p:nvSpPr>
          <p:cNvPr id="164" name="Google Shape;164;p26"/>
          <p:cNvSpPr txBox="1">
            <a:spLocks noGrp="1"/>
          </p:cNvSpPr>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rmAutofit/>
          </a:bodyPr>
          <a:lstStyle/>
          <a:p>
            <a:pPr marL="0" indent="0">
              <a:spcBef>
                <a:spcPts val="0"/>
              </a:spcBef>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TotalTime>
  <Words>1065</Words>
  <Application>Microsoft Office PowerPoint</Application>
  <PresentationFormat>Widescreen</PresentationFormat>
  <Paragraphs>131</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PowerPoint Presentation</vt:lpstr>
      <vt:lpstr>PowerPoint Presentation</vt:lpstr>
      <vt:lpstr>Contents </vt:lpstr>
      <vt:lpstr>Problem Statement </vt:lpstr>
      <vt:lpstr>Abstract </vt:lpstr>
      <vt:lpstr>Literature Survey</vt:lpstr>
      <vt:lpstr>Introduction</vt:lpstr>
      <vt:lpstr> Block Diagram  </vt:lpstr>
      <vt:lpstr>Circuit Diagram</vt:lpstr>
      <vt:lpstr>Working</vt:lpstr>
      <vt:lpstr>Hardware &amp; Software Requirements</vt:lpstr>
      <vt:lpstr>Expected Result</vt:lpstr>
      <vt:lpstr>Future Scope</vt:lpstr>
      <vt:lpstr>References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Shaikh Novman</dc:creator>
  <cp:lastModifiedBy>Novman Shaikh</cp:lastModifiedBy>
  <cp:revision>9</cp:revision>
  <dcterms:modified xsi:type="dcterms:W3CDTF">2025-04-01T15:42:57Z</dcterms:modified>
</cp:coreProperties>
</file>